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1b6941daa54015" /><Relationship Type="http://schemas.openxmlformats.org/officeDocument/2006/relationships/extended-properties" Target="/docProps/app.xml" Id="Rd927ae94b4344663" /><Relationship Type="http://schemas.openxmlformats.org/officeDocument/2006/relationships/officeDocument" Target="/ppt/presentation.xml" Id="Rd76fa7227c1042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372271b4ed4644"/>
  </p:sldMasterIdLst>
  <p:notesMasterIdLst>
    <p:notesMasterId xmlns:r="http://schemas.openxmlformats.org/officeDocument/2006/relationships" r:id="Ra0255a030b2e4867"/>
  </p:notesMasterIdLst>
  <p:sldIdLst>
    <p:sldId xmlns:r="http://schemas.openxmlformats.org/officeDocument/2006/relationships" id="256" r:id="R32a2f23114bd4221"/>
    <p:sldId xmlns:r="http://schemas.openxmlformats.org/officeDocument/2006/relationships" id="257" r:id="R8292c6199dbe4047"/>
    <p:sldId xmlns:r="http://schemas.openxmlformats.org/officeDocument/2006/relationships" id="258" r:id="R03d84669d21e48e5"/>
    <p:sldId xmlns:r="http://schemas.openxmlformats.org/officeDocument/2006/relationships" id="259" r:id="R6c719316c1244542"/>
    <p:sldId xmlns:r="http://schemas.openxmlformats.org/officeDocument/2006/relationships" id="260" r:id="R410071db96f7433d"/>
    <p:sldId xmlns:r="http://schemas.openxmlformats.org/officeDocument/2006/relationships" id="261" r:id="Rcb85346fcd0944ef"/>
    <p:sldId xmlns:r="http://schemas.openxmlformats.org/officeDocument/2006/relationships" id="262" r:id="Rfb4e7375268e4aa4"/>
    <p:sldId xmlns:r="http://schemas.openxmlformats.org/officeDocument/2006/relationships" id="263" r:id="Rbc3c9a0b31e54f4f"/>
    <p:sldId xmlns:r="http://schemas.openxmlformats.org/officeDocument/2006/relationships" id="264" r:id="R04105c5cca2f4e0c"/>
    <p:sldId xmlns:r="http://schemas.openxmlformats.org/officeDocument/2006/relationships" id="265" r:id="R0a3e471453ef404c"/>
    <p:sldId xmlns:r="http://schemas.openxmlformats.org/officeDocument/2006/relationships" id="266" r:id="R91c3e357b3fe4dfd"/>
    <p:sldId xmlns:r="http://schemas.openxmlformats.org/officeDocument/2006/relationships" id="267" r:id="R7ababcf31dc14275"/>
    <p:sldId xmlns:r="http://schemas.openxmlformats.org/officeDocument/2006/relationships" id="268" r:id="Rf7933410da7a495e"/>
    <p:sldId xmlns:r="http://schemas.openxmlformats.org/officeDocument/2006/relationships" id="269" r:id="Rd43a8e0638da43b4"/>
    <p:sldId xmlns:r="http://schemas.openxmlformats.org/officeDocument/2006/relationships" id="270" r:id="Rb8c2f0b8a9f948e5"/>
    <p:sldId xmlns:r="http://schemas.openxmlformats.org/officeDocument/2006/relationships" id="271" r:id="R062d8821e6814426"/>
    <p:sldId xmlns:r="http://schemas.openxmlformats.org/officeDocument/2006/relationships" id="272" r:id="R1223411ccec04727"/>
    <p:sldId xmlns:r="http://schemas.openxmlformats.org/officeDocument/2006/relationships" id="273" r:id="R06fbdbcca15b4485"/>
    <p:sldId xmlns:r="http://schemas.openxmlformats.org/officeDocument/2006/relationships" id="274" r:id="R1888842da27340e0"/>
    <p:sldId xmlns:r="http://schemas.openxmlformats.org/officeDocument/2006/relationships" id="275" r:id="R20874d1fc54a4aaf"/>
    <p:sldId xmlns:r="http://schemas.openxmlformats.org/officeDocument/2006/relationships" id="276" r:id="Rf317782580694118"/>
    <p:sldId xmlns:r="http://schemas.openxmlformats.org/officeDocument/2006/relationships" id="277" r:id="R2bc65ce5ec334a1f"/>
    <p:sldId xmlns:r="http://schemas.openxmlformats.org/officeDocument/2006/relationships" id="278" r:id="R1e7c0a197e8a4c2e"/>
    <p:sldId xmlns:r="http://schemas.openxmlformats.org/officeDocument/2006/relationships" id="279" r:id="R386587ddb4144e02"/>
    <p:sldId xmlns:r="http://schemas.openxmlformats.org/officeDocument/2006/relationships" id="280" r:id="R4ce56e1edaf84177"/>
    <p:sldId xmlns:r="http://schemas.openxmlformats.org/officeDocument/2006/relationships" id="281" r:id="R0c38187f1bee4af7"/>
    <p:sldId xmlns:r="http://schemas.openxmlformats.org/officeDocument/2006/relationships" id="282" r:id="Rea730bb56b494979"/>
    <p:sldId xmlns:r="http://schemas.openxmlformats.org/officeDocument/2006/relationships" id="283" r:id="R25dc9afb726d40fa"/>
    <p:sldId xmlns:r="http://schemas.openxmlformats.org/officeDocument/2006/relationships" id="284" r:id="Rcfaceff9a8b64b94"/>
    <p:sldId xmlns:r="http://schemas.openxmlformats.org/officeDocument/2006/relationships" id="285" r:id="R812dea4294be43a9"/>
    <p:sldId xmlns:r="http://schemas.openxmlformats.org/officeDocument/2006/relationships" id="286" r:id="Rc1fd9ec845f54e54"/>
    <p:sldId xmlns:r="http://schemas.openxmlformats.org/officeDocument/2006/relationships" id="287" r:id="R639cca1ee0894ab1"/>
    <p:sldId xmlns:r="http://schemas.openxmlformats.org/officeDocument/2006/relationships" id="288" r:id="Ree24864760284358"/>
    <p:sldId xmlns:r="http://schemas.openxmlformats.org/officeDocument/2006/relationships" id="289" r:id="R6d3ea86d3f3e4f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b2f2f0d894b65" /><Relationship Type="http://schemas.openxmlformats.org/officeDocument/2006/relationships/slideMaster" Target="/ppt/slideMasters/slideMaster1.xml" Id="Re7372271b4ed4644" /><Relationship Type="http://schemas.openxmlformats.org/officeDocument/2006/relationships/notesMaster" Target="/ppt/notesMasters/notesMaster1.xml" Id="Ra0255a030b2e4867" /><Relationship Type="http://schemas.openxmlformats.org/officeDocument/2006/relationships/presProps" Target="/ppt/presProps.xml" Id="Rc5a4af7d86be46d7" /><Relationship Type="http://schemas.openxmlformats.org/officeDocument/2006/relationships/tableStyles" Target="/ppt/tableStyles.xml" Id="Rc2bb60645339466c" /><Relationship Type="http://schemas.openxmlformats.org/officeDocument/2006/relationships/slide" Target="/ppt/slides/slide1.xml" Id="R32a2f23114bd4221" /><Relationship Type="http://schemas.openxmlformats.org/officeDocument/2006/relationships/slide" Target="/ppt/slides/slide2.xml" Id="R8292c6199dbe4047" /><Relationship Type="http://schemas.openxmlformats.org/officeDocument/2006/relationships/slide" Target="/ppt/slides/slide3.xml" Id="R03d84669d21e48e5" /><Relationship Type="http://schemas.openxmlformats.org/officeDocument/2006/relationships/slide" Target="/ppt/slides/slide4.xml" Id="R6c719316c1244542" /><Relationship Type="http://schemas.openxmlformats.org/officeDocument/2006/relationships/slide" Target="/ppt/slides/slide5.xml" Id="R410071db96f7433d" /><Relationship Type="http://schemas.openxmlformats.org/officeDocument/2006/relationships/slide" Target="/ppt/slides/slide6.xml" Id="Rcb85346fcd0944ef" /><Relationship Type="http://schemas.openxmlformats.org/officeDocument/2006/relationships/slide" Target="/ppt/slides/slide7.xml" Id="Rfb4e7375268e4aa4" /><Relationship Type="http://schemas.openxmlformats.org/officeDocument/2006/relationships/slide" Target="/ppt/slides/slide8.xml" Id="Rbc3c9a0b31e54f4f" /><Relationship Type="http://schemas.openxmlformats.org/officeDocument/2006/relationships/slide" Target="/ppt/slides/slide9.xml" Id="R04105c5cca2f4e0c" /><Relationship Type="http://schemas.openxmlformats.org/officeDocument/2006/relationships/slide" Target="/ppt/slides/slide10.xml" Id="R0a3e471453ef404c" /><Relationship Type="http://schemas.openxmlformats.org/officeDocument/2006/relationships/slide" Target="/ppt/slides/slide11.xml" Id="R91c3e357b3fe4dfd" /><Relationship Type="http://schemas.openxmlformats.org/officeDocument/2006/relationships/slide" Target="/ppt/slides/slide12.xml" Id="R7ababcf31dc14275" /><Relationship Type="http://schemas.openxmlformats.org/officeDocument/2006/relationships/slide" Target="/ppt/slides/slide13.xml" Id="Rf7933410da7a495e" /><Relationship Type="http://schemas.openxmlformats.org/officeDocument/2006/relationships/slide" Target="/ppt/slides/slide14.xml" Id="Rd43a8e0638da43b4" /><Relationship Type="http://schemas.openxmlformats.org/officeDocument/2006/relationships/slide" Target="/ppt/slides/slide15.xml" Id="Rb8c2f0b8a9f948e5" /><Relationship Type="http://schemas.openxmlformats.org/officeDocument/2006/relationships/slide" Target="/ppt/slides/slide16.xml" Id="R062d8821e6814426" /><Relationship Type="http://schemas.openxmlformats.org/officeDocument/2006/relationships/slide" Target="/ppt/slides/slide17.xml" Id="R1223411ccec04727" /><Relationship Type="http://schemas.openxmlformats.org/officeDocument/2006/relationships/slide" Target="/ppt/slides/slide18.xml" Id="R06fbdbcca15b4485" /><Relationship Type="http://schemas.openxmlformats.org/officeDocument/2006/relationships/slide" Target="/ppt/slides/slide19.xml" Id="R1888842da27340e0" /><Relationship Type="http://schemas.openxmlformats.org/officeDocument/2006/relationships/slide" Target="/ppt/slides/slide20.xml" Id="R20874d1fc54a4aaf" /><Relationship Type="http://schemas.openxmlformats.org/officeDocument/2006/relationships/slide" Target="/ppt/slides/slide21.xml" Id="Rf317782580694118" /><Relationship Type="http://schemas.openxmlformats.org/officeDocument/2006/relationships/slide" Target="/ppt/slides/slide22.xml" Id="R2bc65ce5ec334a1f" /><Relationship Type="http://schemas.openxmlformats.org/officeDocument/2006/relationships/slide" Target="/ppt/slides/slide23.xml" Id="R1e7c0a197e8a4c2e" /><Relationship Type="http://schemas.openxmlformats.org/officeDocument/2006/relationships/slide" Target="/ppt/slides/slide24.xml" Id="R386587ddb4144e02" /><Relationship Type="http://schemas.openxmlformats.org/officeDocument/2006/relationships/slide" Target="/ppt/slides/slide25.xml" Id="R4ce56e1edaf84177" /><Relationship Type="http://schemas.openxmlformats.org/officeDocument/2006/relationships/slide" Target="/ppt/slides/slide26.xml" Id="R0c38187f1bee4af7" /><Relationship Type="http://schemas.openxmlformats.org/officeDocument/2006/relationships/slide" Target="/ppt/slides/slide27.xml" Id="Rea730bb56b494979" /><Relationship Type="http://schemas.openxmlformats.org/officeDocument/2006/relationships/slide" Target="/ppt/slides/slide28.xml" Id="R25dc9afb726d40fa" /><Relationship Type="http://schemas.openxmlformats.org/officeDocument/2006/relationships/slide" Target="/ppt/slides/slide29.xml" Id="Rcfaceff9a8b64b94" /><Relationship Type="http://schemas.openxmlformats.org/officeDocument/2006/relationships/slide" Target="/ppt/slides/slide30.xml" Id="R812dea4294be43a9" /><Relationship Type="http://schemas.openxmlformats.org/officeDocument/2006/relationships/slide" Target="/ppt/slides/slide31.xml" Id="Rc1fd9ec845f54e54" /><Relationship Type="http://schemas.openxmlformats.org/officeDocument/2006/relationships/slide" Target="/ppt/slides/slide32.xml" Id="R639cca1ee0894ab1" /><Relationship Type="http://schemas.openxmlformats.org/officeDocument/2006/relationships/slide" Target="/ppt/slides/slide33.xml" Id="Ree24864760284358" /><Relationship Type="http://schemas.openxmlformats.org/officeDocument/2006/relationships/slide" Target="/ppt/slides/slide34.xml" Id="R6d3ea86d3f3e4f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26629b2404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ff1b54f6404e31" /><Relationship Type="http://schemas.openxmlformats.org/officeDocument/2006/relationships/notesMaster" Target="/ppt/notesMasters/notesMaster1.xml" Id="R35e6ee9c080b46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a87e2beed74a5c" /><Relationship Type="http://schemas.openxmlformats.org/officeDocument/2006/relationships/notesMaster" Target="/ppt/notesMasters/notesMaster1.xml" Id="R0ca4d67cfcf74e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9c23aaa7734c18" /><Relationship Type="http://schemas.openxmlformats.org/officeDocument/2006/relationships/notesMaster" Target="/ppt/notesMasters/notesMaster1.xml" Id="R35cf003b2a6148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27cc9330ec4217" /><Relationship Type="http://schemas.openxmlformats.org/officeDocument/2006/relationships/notesMaster" Target="/ppt/notesMasters/notesMaster1.xml" Id="Redc11f13d7f74c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639de1ac8b4141" /><Relationship Type="http://schemas.openxmlformats.org/officeDocument/2006/relationships/notesMaster" Target="/ppt/notesMasters/notesMaster1.xml" Id="R0dd415b8f8b74c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1bced673e84432" /><Relationship Type="http://schemas.openxmlformats.org/officeDocument/2006/relationships/notesMaster" Target="/ppt/notesMasters/notesMaster1.xml" Id="Re9b6efcd8a344d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e71fc30de948fe" /><Relationship Type="http://schemas.openxmlformats.org/officeDocument/2006/relationships/notesMaster" Target="/ppt/notesMasters/notesMaster1.xml" Id="Re7a1dc2f84bf47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52e11d4a094a39" /><Relationship Type="http://schemas.openxmlformats.org/officeDocument/2006/relationships/notesMaster" Target="/ppt/notesMasters/notesMaster1.xml" Id="R99d256020fad4b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b778dd8ca24af7" /><Relationship Type="http://schemas.openxmlformats.org/officeDocument/2006/relationships/notesMaster" Target="/ppt/notesMasters/notesMaster1.xml" Id="R4298175bdd644e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999e15a365421b" /><Relationship Type="http://schemas.openxmlformats.org/officeDocument/2006/relationships/notesMaster" Target="/ppt/notesMasters/notesMaster1.xml" Id="Rca6d306b3b1141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640ad12487424c" /><Relationship Type="http://schemas.openxmlformats.org/officeDocument/2006/relationships/notesMaster" Target="/ppt/notesMasters/notesMaster1.xml" Id="R2499147ac92a4b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264f44cf63425b" /><Relationship Type="http://schemas.openxmlformats.org/officeDocument/2006/relationships/notesMaster" Target="/ppt/notesMasters/notesMaster1.xml" Id="Re18c2c1acb6a4d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ff356672e24316" /><Relationship Type="http://schemas.openxmlformats.org/officeDocument/2006/relationships/notesMaster" Target="/ppt/notesMasters/notesMaster1.xml" Id="R0d3cb48898d546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43a551f01d4eaf" /><Relationship Type="http://schemas.openxmlformats.org/officeDocument/2006/relationships/notesMaster" Target="/ppt/notesMasters/notesMaster1.xml" Id="R71a783602e5f48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4cfc3b7b5d487c" /><Relationship Type="http://schemas.openxmlformats.org/officeDocument/2006/relationships/notesMaster" Target="/ppt/notesMasters/notesMaster1.xml" Id="R55122d54a2184a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f92b864e2949bd" /><Relationship Type="http://schemas.openxmlformats.org/officeDocument/2006/relationships/notesMaster" Target="/ppt/notesMasters/notesMaster1.xml" Id="R24737e55299c4a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c61a702f3e45a5" /><Relationship Type="http://schemas.openxmlformats.org/officeDocument/2006/relationships/notesMaster" Target="/ppt/notesMasters/notesMaster1.xml" Id="R06ea793eb5aa4a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c4b67cdad04d92" /><Relationship Type="http://schemas.openxmlformats.org/officeDocument/2006/relationships/notesMaster" Target="/ppt/notesMasters/notesMaster1.xml" Id="R39b259c366434c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38c14ffb024a15" /><Relationship Type="http://schemas.openxmlformats.org/officeDocument/2006/relationships/notesMaster" Target="/ppt/notesMasters/notesMaster1.xml" Id="R3cab2b2039a74b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4e983979af49e2" /><Relationship Type="http://schemas.openxmlformats.org/officeDocument/2006/relationships/notesMaster" Target="/ppt/notesMasters/notesMaster1.xml" Id="R98842a709f07482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34035f5fe64764" /><Relationship Type="http://schemas.openxmlformats.org/officeDocument/2006/relationships/notesMaster" Target="/ppt/notesMasters/notesMaster1.xml" Id="Rbe6ac695acf74ad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f5b57c2fe94c8e" /><Relationship Type="http://schemas.openxmlformats.org/officeDocument/2006/relationships/notesMaster" Target="/ppt/notesMasters/notesMaster1.xml" Id="R843a3abcd90d43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b86c83dd604d51" /><Relationship Type="http://schemas.openxmlformats.org/officeDocument/2006/relationships/notesMaster" Target="/ppt/notesMasters/notesMaster1.xml" Id="R00924faa1b2d47e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09a4e6f3d2740cd" /><Relationship Type="http://schemas.openxmlformats.org/officeDocument/2006/relationships/notesMaster" Target="/ppt/notesMasters/notesMaster1.xml" Id="Rd16a1b6011fe4dd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47405cbb358490d" /><Relationship Type="http://schemas.openxmlformats.org/officeDocument/2006/relationships/notesMaster" Target="/ppt/notesMasters/notesMaster1.xml" Id="Rbc68945783514d4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35f61ef5a7e4954" /><Relationship Type="http://schemas.openxmlformats.org/officeDocument/2006/relationships/notesMaster" Target="/ppt/notesMasters/notesMaster1.xml" Id="Reb3fc83893cb45c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9ee4d322ff144b8" /><Relationship Type="http://schemas.openxmlformats.org/officeDocument/2006/relationships/notesMaster" Target="/ppt/notesMasters/notesMaster1.xml" Id="R6dd57719ef8a44c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1169a6e11e44505" /><Relationship Type="http://schemas.openxmlformats.org/officeDocument/2006/relationships/notesMaster" Target="/ppt/notesMasters/notesMaster1.xml" Id="R13022b298ef246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c91f49fb2b41d5" /><Relationship Type="http://schemas.openxmlformats.org/officeDocument/2006/relationships/notesMaster" Target="/ppt/notesMasters/notesMaster1.xml" Id="Rf2bda8c9f0ad45d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596b4c55e4f4794" /><Relationship Type="http://schemas.openxmlformats.org/officeDocument/2006/relationships/notesMaster" Target="/ppt/notesMasters/notesMaster1.xml" Id="R37b3922e3b014a8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a601e0d522f42b4" /><Relationship Type="http://schemas.openxmlformats.org/officeDocument/2006/relationships/notesMaster" Target="/ppt/notesMasters/notesMaster1.xml" Id="R760467fd95964b6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33a0af0469b4e22" /><Relationship Type="http://schemas.openxmlformats.org/officeDocument/2006/relationships/notesMaster" Target="/ppt/notesMasters/notesMaster1.xml" Id="R6a4caf18a3b7495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016a95af5d14498" /><Relationship Type="http://schemas.openxmlformats.org/officeDocument/2006/relationships/notesMaster" Target="/ppt/notesMasters/notesMaster1.xml" Id="Rb2cdb566dc5142a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c42a1168c714514" /><Relationship Type="http://schemas.openxmlformats.org/officeDocument/2006/relationships/notesMaster" Target="/ppt/notesMasters/notesMaster1.xml" Id="R1238b02b425f44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발표의 질문은 단순합니다. FP4로 바꾸면 빠르지만 학습이 망가집니다. 이 논문은 그 실패 원인을 네 가지 장치로 하나씩 해결합니다.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https://arxiv.org/abs/2509.25149</a:t>
            </a:r>
          </a:p>
          <a:p xmlns:a="http://schemas.openxmlformats.org/drawingml/2006/main">
            <a:r>
              <a:t>- https://arxiv.org/pdf/2509.25149 (Figure 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청중이 끝까지 기억해야 할 문장입니다. NVFP4 format과 training recipe를 분리해서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(Abstract; Sections 3-4)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기초 설명은 논문을 읽기 위한 최소한만 다룹니다. 발표의 절반 이상은 Section 4에 배정합니다.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논문은 FP4의 이론적·하드웨어적 기회를 동기로 제시합니다. 다만 뒤에서 end-to-end 학습 속도 측정은 별개임을 분명히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1; Section 2, Table 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FP4는 균일한 정수 칸이 아니라 E2M1 부동소수점 격자입니다. 이 슬라이드는 scale과 rounding의 역할만 직관적으로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2; Appendix B)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FP4 element는 E2M1입니다. NVFP4는 element format을 바꾸는 것이 아니라 scaling 방식과 block 크기를 개선합니다.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2; Table 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NVFP4는 16개의 contiguous FP4 element마다 E4M3 scale을 둡니다. 이 작은 block이 MXFP4의 32개 block보다 outlier와 작은 값을 더 잘 보존합니다.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2; Figure 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구분은 발표에서 반드시 강조합니다. two-level은 NVFP4 저장 형식이고, 2D scaling은 forward/backward weight 표현을 같게 하는 training method입니다.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2; Appendix B)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NVFP4와 MXFP4 모두 E2M1 element이므로 차이는 scale metadata와 block size에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2; Section 5)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1의 speedup은 Blackwell Tensor Core arithmetic rate입니다. mixed precision, scaling, RHT, communication 비용을 포함한 전체 학습 속도로 해석하면 안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2, Table 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12B architecture는 Nemotron-Nano-12B-v2-Base와 동일 계열입니다. learning rate decay는 8T token에서 시작합니다.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3; Appendix A.1)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가장 흔한 오해를 막는 슬라이드입니다. 12B main run에서 고정밀 linear layer는 전체 linear layer의 16%입니다.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4.1; Appendix A.1)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곡선이 완전히 겹치는 것은 아닙니다. 안정 구간에서는 1% 미만, decay 끝에서는 1.5%를 조금 넘는 gap입니다.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3, Figure 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전반적으로 유사하지만 code benchmark는 낮습니다. 저자들은 마지막 MBPP+ checkpoint의 noise 가능성을 언급합니다.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3, Figure 3 and Table 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논문의 성과를 과대평가하지 않도록 headline과 measurement setting을 분리합니다.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3, Figure 2 and Table 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슬라이드에서 Section 4의 문제 설정을 명확히 합니다. 네 장치는 임의의 팁이 아니라 base method의 서로 다른 실패를 고칩니다.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(Appendix E.1; Section 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장치를 문제-처방 쌍으로 기억시키는 슬라이드입니다. 이후 네 장에서 각각 자세히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4 opening; Figure 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5는 복잡하지만 핵심은 세 GEMM 입력을 NVFP4로 양자화하고, output과 optimizer state는 고정밀로 남긴다는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4.1, Figure 5)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12B run은 보수적으로 first two와 last eight blocks를 BF16로 남깁니다. Section 4의 권고는 대략 15% 이하의 민감 linear layer입니다.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4.1; Appendix E.2)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RHT는 outlier를 없애는 것이 아니라 방향을 회전해 에너지를 분산합니다. 논문은 12B에서 d=16을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4.2; Appendix C)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논문의 중요한 empirical finding입니다. RHT는 Wgrad에만 적용하며, Fprop/Dgrad에서는 오히려 품질이 나빠졌습니다.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4.2; Appendix E.4.1)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2D scaling의 핵심은 granularity 자체보다 consistency입니다. weight는 16x16, activation과 gradient는 정확도를 위해 1x16을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4.3; Appendix E.5)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확률은 가까운 표현값일수록 높습니다. 기대값 관점에서 unbiased하지만 sample마다 noise는 생기므로 forward tensor에 쓰면 해로울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4.4; Appendix E.3)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표가 Section 4의 operational summary입니다. SR은 12B에서 Dgrad와 Wgrad로 들어가는 gradient 양쪽에 필요했습니다.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(Sections 4.1-4.4; Appendix E.3)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 ablation은 3.43T checkpoint에서 한 요소씩 제거해 비교합니다. negative relative difference는 FP8보다 나쁘다는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4, Figure 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8B 비교에서 MXFP4는 1.36T token을 사용해야 1T NVFP4 loss를 맞췄습니다. 이는 다양한 model scale의 보편적 scaling law가 아니라 해당 설정의 결과입니다.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5, Figure 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저자들도 conclusion에서 고정밀 layer 감소, attention과 communication 확장, 더 큰 model과 MoE 검증을 future work로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(Section 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처음의 핵심 주장으로 돌아가 발표를 닫습니다. 질문은 부록 예상 Q&amp;A로 이어갑니다.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1.2B/1T ablation입니다. 마지막 layer의 Wgrad quantization error가 큰 것이 관찰되었습니다.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(Appendix E.2, Figure 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ablation 모두 1.2B/1T 설정입니다. ‘좋은 기술’도 tensor/GEMM 위치를 잘못 고르면 해롭다는 증거입니다.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(Appendix E.3-E.4.1, Figures 10-11)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12-13은 12B model을 3.4T 이후 다른 설정으로 전환한 ablation입니다. d=16과 single fixed seed가 실용적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(Appendix E.4.2-E.4.3, Figures 12-13)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14는 1.2B/1T ablation입니다. 2D scaling은 weight consistency와 실현 가능한 Tensor Core scaling constraint를 절충합니다.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 (Appendix E.5, Figure 14)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질문에 답할 때 먼저 yes/no를 말하고, scope와 ablation 근거를 한 문장으로 붙입니다.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속도 질문과 평가 precision 질문에서 과장을 피하는 것이 중요합니다.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https://arxiv.org/pdf/2509.25149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41f78fe7740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7ace42c08545ad" /><Relationship Type="http://schemas.openxmlformats.org/officeDocument/2006/relationships/slideLayout" Target="/ppt/slideLayouts/slideLayout1.xml" Id="R4737718b8be64d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37718b8be64d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90b9801914afb" /><Relationship Type="http://schemas.openxmlformats.org/officeDocument/2006/relationships/image" Target="/ppt/media/image.png" Id="R85b5e1ece5704caa" /><Relationship Type="http://schemas.openxmlformats.org/officeDocument/2006/relationships/notesSlide" Target="/ppt/notesSlides/notesSlide1.xml" Id="Rd9cdf0e5fd4a41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95048a42e4259" /><Relationship Type="http://schemas.openxmlformats.org/officeDocument/2006/relationships/notesSlide" Target="/ppt/notesSlides/notesSlide2.xml" Id="R0c1f559635b04c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542ea8b2c463d" /><Relationship Type="http://schemas.openxmlformats.org/officeDocument/2006/relationships/notesSlide" Target="/ppt/notesSlides/notesSlide3.xml" Id="R24d4eddc5d2849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b64c86070407a" /><Relationship Type="http://schemas.openxmlformats.org/officeDocument/2006/relationships/notesSlide" Target="/ppt/notesSlides/notesSlide4.xml" Id="R34b2962d98cd43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6eb13f10642aa" /><Relationship Type="http://schemas.openxmlformats.org/officeDocument/2006/relationships/notesSlide" Target="/ppt/notesSlides/notesSlide5.xml" Id="R6ad3dd7f3d1346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379bace6042c7" /><Relationship Type="http://schemas.openxmlformats.org/officeDocument/2006/relationships/notesSlide" Target="/ppt/notesSlides/notesSlide6.xml" Id="R733c17777b8b4c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69e7d94314ebc" /><Relationship Type="http://schemas.openxmlformats.org/officeDocument/2006/relationships/notesSlide" Target="/ppt/notesSlides/notesSlide7.xml" Id="R77716657e3c74e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f650b19784955" /><Relationship Type="http://schemas.openxmlformats.org/officeDocument/2006/relationships/notesSlide" Target="/ppt/notesSlides/notesSlide8.xml" Id="Rde0b2fef4b5f4a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9864d18ce4dca" /><Relationship Type="http://schemas.openxmlformats.org/officeDocument/2006/relationships/notesSlide" Target="/ppt/notesSlides/notesSlide9.xml" Id="Re07ff979979749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accccec484d05" /><Relationship Type="http://schemas.openxmlformats.org/officeDocument/2006/relationships/notesSlide" Target="/ppt/notesSlides/notesSlide10.xml" Id="Rf8778102a5b74c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d8af4c7614183" /><Relationship Type="http://schemas.openxmlformats.org/officeDocument/2006/relationships/notesSlide" Target="/ppt/notesSlides/notesSlide11.xml" Id="R430e6f2cb5f840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5308faa0547c4" /><Relationship Type="http://schemas.openxmlformats.org/officeDocument/2006/relationships/notesSlide" Target="/ppt/notesSlides/notesSlide12.xml" Id="R8202c30ae74d4d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39d338b1f459c" /><Relationship Type="http://schemas.openxmlformats.org/officeDocument/2006/relationships/image" Target="/ppt/media/image2.png" Id="R1e58530a39664855" /><Relationship Type="http://schemas.openxmlformats.org/officeDocument/2006/relationships/notesSlide" Target="/ppt/notesSlides/notesSlide13.xml" Id="R147e75cdd81c47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746ac32e444a6" /><Relationship Type="http://schemas.openxmlformats.org/officeDocument/2006/relationships/image" Target="/ppt/media/image3.png" Id="R5077cbd81b6f4070" /><Relationship Type="http://schemas.openxmlformats.org/officeDocument/2006/relationships/notesSlide" Target="/ppt/notesSlides/notesSlide14.xml" Id="R526a1222e72e48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c743b22a84325" /><Relationship Type="http://schemas.openxmlformats.org/officeDocument/2006/relationships/notesSlide" Target="/ppt/notesSlides/notesSlide15.xml" Id="R278a65f2dc0848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1c28877224c0d" /><Relationship Type="http://schemas.openxmlformats.org/officeDocument/2006/relationships/notesSlide" Target="/ppt/notesSlides/notesSlide16.xml" Id="R32c640ae73b34c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75a99412c464a" /><Relationship Type="http://schemas.openxmlformats.org/officeDocument/2006/relationships/notesSlide" Target="/ppt/notesSlides/notesSlide17.xml" Id="Rfe3123a6a32243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137a61d4746fc" /><Relationship Type="http://schemas.openxmlformats.org/officeDocument/2006/relationships/image" Target="/ppt/media/image4.png" Id="R5785b25355f646c7" /><Relationship Type="http://schemas.openxmlformats.org/officeDocument/2006/relationships/notesSlide" Target="/ppt/notesSlides/notesSlide18.xml" Id="Rd2692939b2b74f2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0bdd9740c4377" /><Relationship Type="http://schemas.openxmlformats.org/officeDocument/2006/relationships/notesSlide" Target="/ppt/notesSlides/notesSlide19.xml" Id="R4c7fa292b90e4d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3075baf804e83" /><Relationship Type="http://schemas.openxmlformats.org/officeDocument/2006/relationships/notesSlide" Target="/ppt/notesSlides/notesSlide20.xml" Id="R13e79f0305f84c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b8aa5e74d4172" /><Relationship Type="http://schemas.openxmlformats.org/officeDocument/2006/relationships/notesSlide" Target="/ppt/notesSlides/notesSlide21.xml" Id="R52d844aad58149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590069564454c" /><Relationship Type="http://schemas.openxmlformats.org/officeDocument/2006/relationships/notesSlide" Target="/ppt/notesSlides/notesSlide22.xml" Id="Rc9de128be08948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44ef8f26740e6" /><Relationship Type="http://schemas.openxmlformats.org/officeDocument/2006/relationships/notesSlide" Target="/ppt/notesSlides/notesSlide23.xml" Id="R77a92a06b06c41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3ba5021514274" /><Relationship Type="http://schemas.openxmlformats.org/officeDocument/2006/relationships/notesSlide" Target="/ppt/notesSlides/notesSlide24.xml" Id="Rb7b3f6d929d74a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8d97f926541a5" /><Relationship Type="http://schemas.openxmlformats.org/officeDocument/2006/relationships/image" Target="/ppt/media/image5.png" Id="Re1b07cb3e03f4af3" /><Relationship Type="http://schemas.openxmlformats.org/officeDocument/2006/relationships/notesSlide" Target="/ppt/notesSlides/notesSlide25.xml" Id="Rc151c7cf0ec74dc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dd82c2ef54973" /><Relationship Type="http://schemas.openxmlformats.org/officeDocument/2006/relationships/image" Target="/ppt/media/image6.png" Id="R7a4f5de3247a42a2" /><Relationship Type="http://schemas.openxmlformats.org/officeDocument/2006/relationships/notesSlide" Target="/ppt/notesSlides/notesSlide26.xml" Id="R1b831a454d854d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2a0c3be644fd9" /><Relationship Type="http://schemas.openxmlformats.org/officeDocument/2006/relationships/notesSlide" Target="/ppt/notesSlides/notesSlide27.xml" Id="Rd9cf45d27c3d480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5f758736c475a" /><Relationship Type="http://schemas.openxmlformats.org/officeDocument/2006/relationships/notesSlide" Target="/ppt/notesSlides/notesSlide28.xml" Id="R45d9efe12f7c4fc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996272a114ab0" /><Relationship Type="http://schemas.openxmlformats.org/officeDocument/2006/relationships/image" Target="/ppt/media/image7.png" Id="R5dbeb86bbfbf49ba" /><Relationship Type="http://schemas.openxmlformats.org/officeDocument/2006/relationships/notesSlide" Target="/ppt/notesSlides/notesSlide29.xml" Id="R2579a386066d457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caecc4b734d82" /><Relationship Type="http://schemas.openxmlformats.org/officeDocument/2006/relationships/image" Target="/ppt/media/image8.png" Id="R0164c9708ae046ca" /><Relationship Type="http://schemas.openxmlformats.org/officeDocument/2006/relationships/image" Target="/ppt/media/image9.png" Id="Re668ab1bf4b44a22" /><Relationship Type="http://schemas.openxmlformats.org/officeDocument/2006/relationships/notesSlide" Target="/ppt/notesSlides/notesSlide30.xml" Id="R7961719a76aa4c7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9268dbdce468a" /><Relationship Type="http://schemas.openxmlformats.org/officeDocument/2006/relationships/image" Target="/ppt/media/image10.png" Id="R71fc9490b16b4e5c" /><Relationship Type="http://schemas.openxmlformats.org/officeDocument/2006/relationships/image" Target="/ppt/media/image11.png" Id="Rebf35a214e8d42ae" /><Relationship Type="http://schemas.openxmlformats.org/officeDocument/2006/relationships/notesSlide" Target="/ppt/notesSlides/notesSlide31.xml" Id="R414e345fae2b43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3d8e366634bde" /><Relationship Type="http://schemas.openxmlformats.org/officeDocument/2006/relationships/image" Target="/ppt/media/image12.png" Id="Rec4b9e2182634376" /><Relationship Type="http://schemas.openxmlformats.org/officeDocument/2006/relationships/notesSlide" Target="/ppt/notesSlides/notesSlide32.xml" Id="R3d18cd9e030d4d3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71019d1084aac" /><Relationship Type="http://schemas.openxmlformats.org/officeDocument/2006/relationships/notesSlide" Target="/ppt/notesSlides/notesSlide33.xml" Id="R566c2f9ffb084d9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44a9766924967" /><Relationship Type="http://schemas.openxmlformats.org/officeDocument/2006/relationships/notesSlide" Target="/ppt/notesSlides/notesSlide34.xml" Id="R2badc3db446c4e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A10E57-19C1-4728-8268-C7EAFA94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PAPER REVIEW · LOW-PRECISION TRAINING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D87D1F8-6EB6-4AE4-92B2-AC98B3B7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619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Pretraining Large</a:t>
            </a:r>
          </a:p>
          <a:p xmlns:a="http://schemas.openxmlformats.org/drawingml/2006/main">
            <a:pPr algn="l">
              <a:defRPr sz="4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Language Models</a:t>
            </a:r>
          </a:p>
          <a:p xmlns:a="http://schemas.openxmlformats.org/drawingml/2006/main">
            <a:pPr algn="l">
              <a:defRPr sz="4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with NVFP4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965F9B5-FE39-4C81-A37C-13F5666F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4비트로 12B 모델을 10T 토큰까지 안정적으로 학습한 방법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94A5C788-EE22-492F-A758-A833AD55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5e1ece5704caa"/>
          <a:stretch xmlns:a="http://schemas.openxmlformats.org/drawingml/2006/main"/>
        </p:blipFill>
        <p:spPr>
          <a:xfrm xmlns:a="http://schemas.openxmlformats.org/drawingml/2006/main">
            <a:off x="6477000" y="1432354"/>
            <a:ext cx="5105400" cy="3898042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B500A2-9786-4AB3-8899-BBE37F26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NVIDIA et al. · arXiv:2509.25149v2 · 발표자 김웅곤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6721A4-ECFC-4A33-829D-12115D78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1832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CDE666-EE6B-4A52-A0B1-5EE218FD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논문의 핵심 주장은 한 문장으로 요약됩니다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AF8FCDC-E9AD-4F29-A751-644DD1DE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OPENING</a:t>
            </a:r>
          </a:p>
        </p:txBody>
      </p:sp>
      <p:cxnSp>
        <p:nvCxnSpPr>
          <p:cNvPr id="11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BBD667-B431-4B2C-8CE9-DFE1348E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B41BD8-8F39-433F-944D-1FF6F38D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NVFP4 자체만으로는 부족하다.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84A3D7-D889-45B9-90DF-7BE12CF9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민감 레이어 보호 + RHT + 2D weight scaling + gradient stochastic rounding을 함께 써야</a:t>
            </a:r>
          </a:p>
          <a:p xmlns:a="http://schemas.openxmlformats.org/drawingml/2006/main">
            <a:pPr algn="l">
              <a:defRPr sz="232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12B 모델이 10T 토큰 동안 FP8과 비슷하게 학습된다.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4C0E4F8-9241-4417-ACB4-79A30146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1CFA40-B826-405B-B227-EC3D8FB5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1032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중요: ‘모든 연산이 FP4’라는 논문이 아니라, linear GEMM 입력을 선택적으로 NVFP4로 내린 mixed-precision 학습 논문입니다.</a:t>
            </a:r>
          </a:p>
        </p:txBody>
      </p:sp>
    </p:spTree>
    <p:extLst>
      <p:ext uri="{BB962C8B-B14F-4D97-AF65-F5344CB8AC3E}">
        <p14:creationId xmlns:p14="http://schemas.microsoft.com/office/powerpoint/2010/main" val="2114756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220510-0957-4ADE-A87A-0C04EBE5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숫자 형식에서 시작해 실패 원인과 해결책으로 갑니다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0712EB7-F6B5-40F0-8980-5F86C95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9701175-DFD6-4DDB-BB8E-90BF592E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26" name="rule"/>
          <p:cNvCxnSpPr/>
          <p:nvPr/>
        </p:nvCxnSpPr>
        <p:spPr>
          <a:xfrm xmlns:a="http://schemas.openxmlformats.org/drawingml/2006/main">
            <a:off x="1428750" y="180975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CB2E8D-7F1B-4B3E-AF09-3874734D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B4A5658-714A-4820-878D-44D457AE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62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93BB72-EC5F-4D41-B03E-CA4EF6B7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NVFP4 숫자 형식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854DF9A-4210-40AC-8385-2CF08566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FP4, block scale, two-level scaling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BEB5F0-4135-4EC9-8C60-665DA10A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1AB6052C-B73B-4765-9453-63CA8ED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77CC73B-A822-4959-A9DB-BC7E0655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622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12B / 10T 실험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8892E2B-0A43-4FBA-A687-0E75C1AB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무엇을 양자화했고 결과가 어땠는가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21204B3-40FA-4D5E-893C-F55B135C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7C07610D-9F69-460D-8861-5EA52DDB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0EDB807-0A6D-4AAF-9FC6-135648F3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67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Training Methodology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E42A8AD-6D46-4E7A-8F2A-03725A7D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naive FP4가 실패하는 이유와 네 가지 수정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8E6D216-A7F6-4058-9B27-D1132D9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687396AA-316C-4D7F-9E62-8A46F9A0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4B037EF-A35D-4EF5-808C-8C17145C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720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Ablation과 한계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85D578-DB19-42C9-9EA5-CB5580B3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어떤 장치가 실제로 필요했는가</a:t>
            </a:r>
          </a:p>
        </p:txBody>
      </p:sp>
    </p:spTree>
    <p:extLst>
      <p:ext uri="{BB962C8B-B14F-4D97-AF65-F5344CB8AC3E}">
        <p14:creationId xmlns:p14="http://schemas.microsoft.com/office/powerpoint/2010/main" val="1657508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233A60-8ECE-4B37-9545-2AD22B11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FP4의 매력은 GEMM 처리량과 메모리 절감입니다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F2ACAC8-2616-4B8D-8811-7D44603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FOUNDATION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A421F7-F254-45B5-8237-DF997B8B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BBF6AC-A75E-4F64-86B3-7A356676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2-3×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A4F2F6-2D6E-48F7-B3BD-5C950DEB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FP8 대비 Blackwell FP4</a:t>
            </a:r>
          </a:p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수학 처리량(칩에 따라)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4AD968-20C0-4509-BFE7-3A03F1C8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≈ 1/2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271C80-2907-42B9-AAE7-E66C45C1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FP8 operand 대비</a:t>
            </a:r>
          </a:p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메모리 사용량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066D6B-50B7-460A-A6E4-390541CA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rPr>
              <a:t>10T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D3DCB3C-8245-46AB-A584-744F4EFE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한 번의 pretraining에서</a:t>
            </a:r>
          </a:p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누적되는 token 규모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685800" y="3505200"/>
            <a:ext cx="101727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237FE4E-80B3-4641-AF60-47BA4C4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78D3F00-37B9-4621-A33D-D9831655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하지만 4 bit는 오차 여유가 거의 없습니다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85D3F4B-4F6A-4322-8804-07FFA281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994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값의 범위가 좁고 표현 가능한 숫자가 적어서 outlier, rounding bias, forward/backward 불일치가 곧바로 학습 불안정으로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18496565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41C88C-DD5B-4C02-AB22-5B03C443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양자화는 연속적인 값을 제한된 칸에 넣는 일입니다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CDB29EB-0192-4C99-9961-2E6537E5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FOUNDATION</a:t>
            </a:r>
          </a:p>
        </p:txBody>
      </p:sp>
      <p:cxnSp>
        <p:nvCxnSpPr>
          <p:cNvPr id="35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5F35E7-D36B-4187-88B1-9883FD29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8D14ACC-0613-42CC-8572-2D1C1C9A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원래 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7513E1-EBE0-4F5E-B788-B1246C52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1.73</a:t>
            </a:r>
          </a:p>
        </p:txBody>
      </p:sp>
      <p:cxnSp>
        <p:nvCxnSpPr>
          <p:cNvPr id="39" name="arrow"/>
          <p:cNvCxnSpPr/>
          <p:nvPr/>
        </p:nvCxnSpPr>
        <p:spPr>
          <a:xfrm xmlns:a="http://schemas.openxmlformats.org/drawingml/2006/main">
            <a:off x="2362200" y="2400300"/>
            <a:ext cx="1047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36B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214AB9-B420-45A1-B936-7425F62A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scale로 나누고</a:t>
            </a:r>
          </a:p>
          <a:p xmlns:a="http://schemas.openxmlformats.org/drawingml/2006/main">
            <a:pPr algn="ctr">
              <a:defRPr sz="172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가까운 표현값 선택</a:t>
            </a:r>
          </a:p>
        </p:txBody>
      </p:sp>
      <p:cxnSp>
        <p:nvCxnSpPr>
          <p:cNvPr id="41" name="arrow"/>
          <p:cNvCxnSpPr/>
          <p:nvPr/>
        </p:nvCxnSpPr>
        <p:spPr>
          <a:xfrm xmlns:a="http://schemas.openxmlformats.org/drawingml/2006/main">
            <a:off x="6191250" y="2400300"/>
            <a:ext cx="1047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36B"/>
            </a:solidFill>
            <a:prstDash val="solid"/>
          </a:ln>
        </p:spPr>
      </p:cxn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F74CEBE-F845-4F90-BF0D-47239CAF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38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복원 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3CC22D-4E06-478E-B30C-F8044465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1.50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1F77D2D-8A95-4E64-9EFC-BC8878C8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오차 -0.23</a:t>
            </a:r>
          </a:p>
        </p:txBody>
      </p:sp>
      <p:cxnSp>
        <p:nvCxnSpPr>
          <p:cNvPr id="45" name="rule"/>
          <p:cNvCxnSpPr/>
          <p:nvPr/>
        </p:nvCxnSpPr>
        <p:spPr>
          <a:xfrm xmlns:a="http://schemas.openxmlformats.org/drawingml/2006/main">
            <a:off x="857250" y="3714750"/>
            <a:ext cx="10287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7C4A72C-86FB-4E24-85F2-E6D6329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DBAF50-7453-4CA4-8ABA-D0E23AB9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-3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9D6978E2-0B6A-404B-BA3C-A26D8C68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62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330923-9845-4284-B3FA-9249258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00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-2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2DF1CE26-D085-4E25-821D-AA1B6C22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62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FCE11A7-F1D0-4C58-853C-26788DA1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00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-1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442ED67A-BC0F-4D9E-A76A-35680C01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FCC364-BD58-4654-B104-2B7ACEFF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00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DDDD0897-B4D6-4396-891C-417BA3B2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1315B24-EBAD-49E5-8DBB-757831DD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00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7BC9581C-7704-4BEF-A18C-BDEDEBF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D64C55B-F649-421B-87AA-47F1A0DE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67836580-6056-470F-BB01-5A02570A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6235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95154AB-D7E8-4C4C-BF57-2734232A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000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DE733D93-13AC-44B5-AD4C-05BBFC54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E80AAFA-11B9-4825-ADEE-5936C93F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1.73</a:t>
            </a:r>
          </a:p>
        </p:txBody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81AD9488-6AFE-45F6-8875-2B9F5AAF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3F7E5FB-074C-4580-B208-647E838F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38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1.50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577B3B7-9E5B-4768-BF2F-BEB6B5B7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scale은 칸의 간격을 정하고, rounding은 어느 칸으로 보낼지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235738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695A33-E6D3-4814-8B73-696BF83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비트가 줄수록 표현 범위와 정밀도를 함께 잃습니다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DE0C6B9-9472-4238-86F2-A7213FEC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FOUNDATION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326162B-7FE5-487B-8741-B22F2EC5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D87771E0-1441-4E32-88A9-4D50664B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A9D9B56-31A4-49E1-8943-BBA084E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BF16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1F7E098-7C54-4DAE-A3BE-AAB72E94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5E636B"/>
                </a:solidFill>
                <a:latin typeface="Consolas"/>
                <a:ea typeface="Consolas"/>
                <a:cs typeface="Consolas"/>
              </a:rPr>
              <a:t>1 sign · 8 exponent · 7 mantissa</a:t>
            </a:r>
          </a:p>
        </p:txBody>
      </p:sp>
      <p:cxnSp>
        <p:nvCxnSpPr>
          <p:cNvPr id="28" name="rule"/>
          <p:cNvCxnSpPr/>
          <p:nvPr/>
        </p:nvCxnSpPr>
        <p:spPr>
          <a:xfrm xmlns:a="http://schemas.openxmlformats.org/drawingml/2006/main">
            <a:off x="819150" y="3409950"/>
            <a:ext cx="2895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E27BF7-C12D-48CA-9233-B0EC6DCA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넓은 범위</a:t>
            </a:r>
          </a:p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상대적으로 촘촘한 표현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E5243AB7-F67D-445F-ACCC-68F8FFB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FADA65-4F9D-4460-B137-C32F6E4A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FP8 E4M3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D6FC12-C898-4283-BC7F-12467588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5E636B"/>
                </a:solidFill>
                <a:latin typeface="Consolas"/>
                <a:ea typeface="Consolas"/>
                <a:cs typeface="Consolas"/>
              </a:rPr>
              <a:t>1 sign · 4 exponent · 3 mantissa</a:t>
            </a:r>
          </a:p>
        </p:txBody>
      </p:sp>
      <p:cxnSp>
        <p:nvCxnSpPr>
          <p:cNvPr id="33" name="rule"/>
          <p:cNvCxnSpPr/>
          <p:nvPr/>
        </p:nvCxnSpPr>
        <p:spPr>
          <a:xfrm xmlns:a="http://schemas.openxmlformats.org/drawingml/2006/main">
            <a:off x="4629150" y="3409950"/>
            <a:ext cx="2895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6EC4E8F-7325-4C2A-B196-2733177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학습에 널리 쓰이는</a:t>
            </a:r>
          </a:p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8-bit baseline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D341A2C3-44C7-4BCF-99A6-9CB78265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4FB0540-8732-4968-8637-1FCD2DB5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478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FP4 E2M1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D824464-FA21-4117-B82F-D28CF782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5E636B"/>
                </a:solidFill>
                <a:latin typeface="Consolas"/>
                <a:ea typeface="Consolas"/>
                <a:cs typeface="Consolas"/>
              </a:rPr>
              <a:t>1 sign · 2 exponent · 1 mantissa</a:t>
            </a:r>
          </a:p>
        </p:txBody>
      </p:sp>
      <p:cxnSp>
        <p:nvCxnSpPr>
          <p:cNvPr id="38" name="rule"/>
          <p:cNvCxnSpPr/>
          <p:nvPr/>
        </p:nvCxnSpPr>
        <p:spPr>
          <a:xfrm xmlns:a="http://schemas.openxmlformats.org/drawingml/2006/main">
            <a:off x="8439150" y="3409950"/>
            <a:ext cx="2895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CAA52D7-B8B0-4DD8-B952-CC662DA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9570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표현값이 매우 적어</a:t>
            </a:r>
          </a:p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scale 없이는 실용적이지 않음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4721A56-AC8A-4D9B-8522-2FD5078D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NVFP4의 핵심은 FP4 element에 더 정교한 scale metadata를 붙이는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241882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686140-E763-4329-A2AE-9DA812C3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한 개 scale보다 작은 block별 scale이 오차를 줄입니다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78B95CC-38DC-4CB3-93E6-D3B6C0DD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FOUNDATION</a:t>
            </a:r>
          </a:p>
        </p:txBody>
      </p:sp>
      <p:cxnSp>
        <p:nvCxnSpPr>
          <p:cNvPr id="54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E7A13F-C92A-498A-AD59-C95DDD4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74F673A-F44C-4049-A43D-5E3471AE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Tensor 전체에 scale 1개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766BAC-65FD-4CF7-AA6B-7A7F8B32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큰 outlier 하나가 전체 간격을 벌림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9A5CF9B-6013-4FFA-BEAA-45F7554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4673C73-10CD-4CED-8F1D-A4B7FBFC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DA003434-0A08-495C-8367-4E86CD85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7BC70D08-9B79-47CF-91DF-9288F072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91C00E1-4094-4E6D-9B02-C9B4FA1A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548B3659-C40A-462A-9B5D-0B16A6D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AE5A889-0402-4AB2-9640-83CCC33F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DEA506A-4798-4260-AEF1-2424A202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24150"/>
            <a:ext cx="238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10FA63EA-814B-4100-B78A-8FD86A32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87078454-0AC7-48F3-9668-4CFB9676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724150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71D02428-C170-4E6E-AF20-7F0AF9A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C9D980A7-57EF-4886-9305-03C01EAE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350118DE-91FB-4E36-A3C8-76D06EF1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FC9F5A2A-5B0C-4FCB-82F8-237162E9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306FF0E9-6B59-4C16-8B0E-E0D35F13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A139B4BD-7A94-403C-937C-149D25FD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24150"/>
            <a:ext cx="23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CE47909-61F4-4E5A-B5A7-B66E33CB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outlier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B6CD4074-D476-4F63-A373-5A081ED4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6685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52CEFEE-3A74-4593-B60E-E9BE61DA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16개마다 scale 1개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762A23D-8DB0-4A6E-A2F4-200802DC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각 block이 자기 범위에 맞춰 확대·축소</a:t>
            </a:r>
          </a:p>
        </p:txBody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A33BCCB0-4693-403C-89F4-D6455AF0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1047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2D88E483-5CFC-4D86-8436-B57C2511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15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C333DB03-F01C-42A0-8C92-B7121FA3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0400"/>
            <a:ext cx="152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44149828-57E5-4FBF-B3A8-6E5D3E19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152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55F621D9-0657-4174-8C1A-BB452FFF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33700"/>
            <a:ext cx="152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839EBA6-294C-468A-8240-BEC970C1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s1</a:t>
            </a:r>
          </a:p>
        </p:txBody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2C1F3CE1-E236-4257-9E45-CE19E86D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047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surface">
            <a:extLst xmlns:a="http://schemas.openxmlformats.org/drawingml/2006/main">
              <a:ext uri="{FF2B5EF4-FFF2-40B4-BE49-F238E27FC236}">
                <a16:creationId xmlns:a16="http://schemas.microsoft.com/office/drawing/2014/main" id="{F631226E-97AB-483D-96E7-6D716474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152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A1D8712B-9E6A-4FCD-BECA-AA23CD2D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67050"/>
            <a:ext cx="152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urface">
            <a:extLst xmlns:a="http://schemas.openxmlformats.org/drawingml/2006/main">
              <a:ext uri="{FF2B5EF4-FFF2-40B4-BE49-F238E27FC236}">
                <a16:creationId xmlns:a16="http://schemas.microsoft.com/office/drawing/2014/main" id="{019956F0-1B33-4BDA-B177-22A266D6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152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urface">
            <a:extLst xmlns:a="http://schemas.openxmlformats.org/drawingml/2006/main">
              <a:ext uri="{FF2B5EF4-FFF2-40B4-BE49-F238E27FC236}">
                <a16:creationId xmlns:a16="http://schemas.microsoft.com/office/drawing/2014/main" id="{35AE0359-7D37-4E4C-A725-B4853A09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15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4647B040-5B1E-45F6-9D77-4E576C03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1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s2</a:t>
            </a:r>
          </a:p>
        </p:txBody>
      </p:sp>
      <p:sp>
        <p:nvSpPr>
          <p:cNvPr id="39" name="surface">
            <a:extLst xmlns:a="http://schemas.openxmlformats.org/drawingml/2006/main">
              <a:ext uri="{FF2B5EF4-FFF2-40B4-BE49-F238E27FC236}">
                <a16:creationId xmlns:a16="http://schemas.microsoft.com/office/drawing/2014/main" id="{92A14932-D837-44A2-9D69-241A52E9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1047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surface">
            <a:extLst xmlns:a="http://schemas.openxmlformats.org/drawingml/2006/main">
              <a:ext uri="{FF2B5EF4-FFF2-40B4-BE49-F238E27FC236}">
                <a16:creationId xmlns:a16="http://schemas.microsoft.com/office/drawing/2014/main" id="{44A2EC03-B8BF-4B1F-8DFF-20F5B4FB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152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urface">
            <a:extLst xmlns:a="http://schemas.openxmlformats.org/drawingml/2006/main">
              <a:ext uri="{FF2B5EF4-FFF2-40B4-BE49-F238E27FC236}">
                <a16:creationId xmlns:a16="http://schemas.microsoft.com/office/drawing/2014/main" id="{BD8A79EB-39EC-4A04-AA44-E2672EF8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33700"/>
            <a:ext cx="152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urface">
            <a:extLst xmlns:a="http://schemas.openxmlformats.org/drawingml/2006/main">
              <a:ext uri="{FF2B5EF4-FFF2-40B4-BE49-F238E27FC236}">
                <a16:creationId xmlns:a16="http://schemas.microsoft.com/office/drawing/2014/main" id="{B435707F-6DCD-4701-8B70-5D6EAC2A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15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urface">
            <a:extLst xmlns:a="http://schemas.openxmlformats.org/drawingml/2006/main">
              <a:ext uri="{FF2B5EF4-FFF2-40B4-BE49-F238E27FC236}">
                <a16:creationId xmlns:a16="http://schemas.microsoft.com/office/drawing/2014/main" id="{0A104863-4D34-495F-AF41-1339F0D1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200400"/>
            <a:ext cx="152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0414A5F-1DD8-4579-86A3-E97CB427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1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s3</a:t>
            </a:r>
          </a:p>
        </p:txBody>
      </p:sp>
      <p:sp>
        <p:nvSpPr>
          <p:cNvPr id="45" name="surface">
            <a:extLst xmlns:a="http://schemas.openxmlformats.org/drawingml/2006/main">
              <a:ext uri="{FF2B5EF4-FFF2-40B4-BE49-F238E27FC236}">
                <a16:creationId xmlns:a16="http://schemas.microsoft.com/office/drawing/2014/main" id="{1BA772F6-A127-46EB-A713-3FFD037C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47950"/>
            <a:ext cx="1047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surface">
            <a:extLst xmlns:a="http://schemas.openxmlformats.org/drawingml/2006/main">
              <a:ext uri="{FF2B5EF4-FFF2-40B4-BE49-F238E27FC236}">
                <a16:creationId xmlns:a16="http://schemas.microsoft.com/office/drawing/2014/main" id="{591CCC7B-0208-4F7F-8834-D2755EDC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33700"/>
            <a:ext cx="152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urface">
            <a:extLst xmlns:a="http://schemas.openxmlformats.org/drawingml/2006/main">
              <a:ext uri="{FF2B5EF4-FFF2-40B4-BE49-F238E27FC236}">
                <a16:creationId xmlns:a16="http://schemas.microsoft.com/office/drawing/2014/main" id="{9C969144-1679-4234-9026-02B1B539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33750"/>
            <a:ext cx="15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urface">
            <a:extLst xmlns:a="http://schemas.openxmlformats.org/drawingml/2006/main">
              <a:ext uri="{FF2B5EF4-FFF2-40B4-BE49-F238E27FC236}">
                <a16:creationId xmlns:a16="http://schemas.microsoft.com/office/drawing/2014/main" id="{7317CE69-7EB3-4E53-9DBF-A396CEB2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00400"/>
            <a:ext cx="152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urface">
            <a:extLst xmlns:a="http://schemas.openxmlformats.org/drawingml/2006/main">
              <a:ext uri="{FF2B5EF4-FFF2-40B4-BE49-F238E27FC236}">
                <a16:creationId xmlns:a16="http://schemas.microsoft.com/office/drawing/2014/main" id="{AEC182BC-0F10-45BC-97A9-52027FBC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067050"/>
            <a:ext cx="152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760CFAA8-936A-47AB-A926-A2C8F22E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11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s4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06363951-4507-4723-9B6E-AD12BAF6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Microscaling = data 옆에 작은 scale metadata를 저장해 local dynamic range를 맞추는 방식</a:t>
            </a:r>
          </a:p>
        </p:txBody>
      </p:sp>
    </p:spTree>
    <p:extLst>
      <p:ext uri="{BB962C8B-B14F-4D97-AF65-F5344CB8AC3E}">
        <p14:creationId xmlns:p14="http://schemas.microsoft.com/office/powerpoint/2010/main" val="589875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C87E73-217A-46E0-AD52-5059893F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NVFP4는 tensor scale과 block scale을 두 단계로 씁니다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D7CBD0F-720A-4AF8-8A8A-86D60400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FOUNDATION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6B4773-3800-49EF-9490-87A9FA66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cxnSp>
        <p:nvCxnSpPr>
          <p:cNvPr id="24" name="arrow"/>
          <p:cNvCxnSpPr/>
          <p:nvPr/>
        </p:nvCxnSpPr>
        <p:spPr>
          <a:xfrm xmlns:a="http://schemas.openxmlformats.org/drawingml/2006/main">
            <a:off x="2838450" y="2933700"/>
            <a:ext cx="1066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36B"/>
            </a:solidFill>
            <a:prstDash val="solid"/>
          </a:ln>
        </p:spPr>
      </p:cxnSp>
      <p:cxnSp>
        <p:nvCxnSpPr>
          <p:cNvPr id="25" name="arrow"/>
          <p:cNvCxnSpPr/>
          <p:nvPr/>
        </p:nvCxnSpPr>
        <p:spPr>
          <a:xfrm xmlns:a="http://schemas.openxmlformats.org/drawingml/2006/main">
            <a:off x="6343650" y="2933700"/>
            <a:ext cx="1066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36B"/>
            </a:solidFill>
            <a:prstDash val="solid"/>
          </a:ln>
        </p:spPr>
      </p:cxn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94F0C1A-6BAC-48C2-BF7D-229F444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152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2383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3B49E62-85CC-417B-A226-961C8E6E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BF16 / FP32 tensor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50E4B2-BF7C-4C93-B0FC-5EE799B2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8859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원래 값의 전체 범위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D19E31AD-E9C9-43C8-8094-38DB2657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33600"/>
            <a:ext cx="2438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2383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ACF837-1621-4136-A274-26B79C95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47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Global FP32 scale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CE28EA-2134-43DB-870C-94C9280D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90800"/>
            <a:ext cx="21717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tensor 전체를 FP4×FP8</a:t>
            </a:r>
          </a:p>
          <a:p xmlns:a="http://schemas.openxmlformats.org/drawingml/2006/main">
            <a:pPr algn="ctr">
              <a:def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표현 범위로 이동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CF3EC60F-4C4C-4CA4-A125-05658AB8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2400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12383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B8E26F3-BA41-4366-8E4C-A45C9554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7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Local E4M3 scale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FBF447-F887-4AFC-AA45-B3DFE620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21336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16개 block을 FP4</a:t>
            </a:r>
          </a:p>
          <a:p xmlns:a="http://schemas.openxmlformats.org/drawingml/2006/main">
            <a:pPr algn="ctr">
              <a:def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표현 범위로 이동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2FEBB71-C684-4449-ABBF-7C8B794F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95550"/>
            <a:ext cx="148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FP4 E2M1 data</a:t>
            </a:r>
          </a:p>
        </p:txBody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6775F264-373E-445D-BA57-C42D6A9B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8B31070-DDF6-463F-93D4-0F811C9C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rPr>
              <a:t>혼동 주의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1D5428D-6C6E-4D7F-BCA9-BFF93998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291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two-level scaling은 ‘FP32 tensor scale + E4M3 block scale’입니다. 뒤의 2D scaling(16×16 weight tile)과는 다른 개념입니다.</a:t>
            </a:r>
          </a:p>
        </p:txBody>
      </p:sp>
    </p:spTree>
    <p:extLst>
      <p:ext uri="{BB962C8B-B14F-4D97-AF65-F5344CB8AC3E}">
        <p14:creationId xmlns:p14="http://schemas.microsoft.com/office/powerpoint/2010/main" val="2307851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E19309-07E9-4F4D-AB5C-0BE7F9AD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NVFP4는 MXFP4보다 block이 작고 scale이 정교합니다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978CC28-62F8-431D-80A7-18C1D956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FOUNDATION</a:t>
            </a:r>
          </a:p>
        </p:txBody>
      </p:sp>
      <p:cxnSp>
        <p:nvCxnSpPr>
          <p:cNvPr id="11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6DDC02-7B6D-4B94-A3BC-7C44A352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2724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2190750"/>
                <a:gridCol w="2190750"/>
                <a:gridCol w="4343400"/>
              </a:tblGrid>
              <a:tr h="5448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NVFP4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MXFP4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학습에 미치는 의미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Element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E2M1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E2M1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둘 다 4-bit data</a:t>
                      </a:r>
                    </a:p>
                  </a:txBody>
                  <a:tcPr marL="95250" marR="95250" marT="66675" marB="66675"/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Block size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작을수록 local range에 잘 맞음</a:t>
                      </a:r>
                    </a:p>
                  </a:txBody>
                  <a:tcPr marL="95250" marR="95250" marT="66675" marB="66675"/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Block scale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E4M3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UE8M0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NVFP4 scale이 더 촘촘함</a:t>
                      </a:r>
                    </a:p>
                  </a:txBody>
                  <a:tcPr marL="95250" marR="95250" marT="66675" marB="66675"/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단계 scale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FP32 + E4M3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power-of-two 중심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값의 zero화와 outlier 오차 감소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6FAD49D9-D046-435C-86E4-492260CB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E8D862-1950-4470-95FF-8AE6074E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숫자 형식 차이가 token 효율 차이로 이어집니다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078379-FCF7-4C73-986C-B45C5014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1059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같은 training recipe를 적용한 8B 실험에서 MXFP4는 NVFP4 loss를 맞추기 위해 36% 더 많은 token이 필요했습니다.</a:t>
            </a:r>
          </a:p>
        </p:txBody>
      </p:sp>
    </p:spTree>
    <p:extLst>
      <p:ext uri="{BB962C8B-B14F-4D97-AF65-F5344CB8AC3E}">
        <p14:creationId xmlns:p14="http://schemas.microsoft.com/office/powerpoint/2010/main" val="21079968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B45B9C-4E10-4343-B085-A8182CB2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Table 1의 4×·6×는 end-to-end 학습 속도가 아닙니다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C2C5D08-C942-4A09-8962-4C56FB3B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FOUNDATION</a:t>
            </a:r>
          </a:p>
        </p:txBody>
      </p:sp>
      <p:cxnSp>
        <p:nvCxnSpPr>
          <p:cNvPr id="12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6B17D8-BF54-4E3D-B50B-74F1D0CC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619125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1333500"/>
                <a:gridCol w="1381125"/>
                <a:gridCol w="1381125"/>
              </a:tblGrid>
              <a:tr h="6286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Format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Block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GB200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GB300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MXFP8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2×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2×</a:t>
                      </a:r>
                    </a:p>
                  </a:txBody>
                  <a:tcPr marL="95250" marR="9525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MXFP6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2×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2×</a:t>
                      </a:r>
                    </a:p>
                  </a:txBody>
                  <a:tcPr marL="95250" marR="9525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MXFP4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4×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6×</a:t>
                      </a:r>
                    </a:p>
                  </a:txBody>
                  <a:tcPr marL="95250" marR="95250" marT="66675" marB="66675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NVFP4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4×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6×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43BD38-1A75-4202-8AA3-DA93F81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811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논문이 보고한 것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F13D4D-712B-4FA9-9301-F751ABC9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400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Tensor Core math throughput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FP8 operand 대비 약 절반 메모리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FP4 conversion rounding 지원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C766DA-7254-41A7-B2E4-10CFCEC5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논문이 보고하지 않은 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AE137B-A669-4BF8-BA12-9D783E0D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400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12B run의 wall-clock 시간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GPU-hour / energy 절감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end-to-end speedup</a:t>
            </a:r>
          </a:p>
        </p:txBody>
      </p:sp>
    </p:spTree>
    <p:extLst>
      <p:ext uri="{BB962C8B-B14F-4D97-AF65-F5344CB8AC3E}">
        <p14:creationId xmlns:p14="http://schemas.microsoft.com/office/powerpoint/2010/main" val="20152038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BD64C6-AC4B-49C1-82C0-777EA0DB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주요 실험은 12B hybrid model을 10T token까지 학습합니다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D3994CF-21F2-40F8-91FF-94A03FD8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EXPERIMENT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B33EE0-BB18-49DB-901C-7B1A02F8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2E8BF8-AF07-48F4-B955-2EED424F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12B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327D04-F459-4B8D-9D23-40F6E25D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Nemotron-H 계열</a:t>
            </a:r>
          </a:p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hybrid Mamba-Transformer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E200A2-2B88-4508-A65E-E2427F60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62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A73A68-05B0-4A30-869A-D535EA7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pretraining tokens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CC255C-834E-468F-83C9-7BF85290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rPr>
              <a:t>8K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BF0B661-8124-4EDD-B33F-C10BA89E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sequence length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1B8161A-24FF-476A-8298-C5969E7F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62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7A5AF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7A5AF8"/>
                </a:solidFill>
                <a:latin typeface="Malgun Gothic"/>
                <a:ea typeface="Malgun Gothic"/>
                <a:cs typeface="Malgun Gothic"/>
              </a:rPr>
              <a:t>WSD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B9F954-6FBF-409E-9CAD-04F6565C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80% stable +</a:t>
            </a:r>
          </a:p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20% decay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685800" y="3352800"/>
            <a:ext cx="106108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3338C08-E1CC-496E-BDE8-9EAC790C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3C01C1E-B159-4460-9630-B23F77E3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290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Mamba-2 + Self-Attention + FFN block 혼합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9189319-4E7F-4BB6-A88B-EF5C25D7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12B82BF-A7A3-4F26-A4AF-BE146844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동일 architecture의 FP8 baseline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38B44E3-1AB7-4652-A703-F91FBC4A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96F67DA-E1B8-419D-9E55-EB044550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학습 loss + knowledge / math / code / commonsense task</a:t>
            </a:r>
          </a:p>
        </p:txBody>
      </p:sp>
    </p:spTree>
    <p:extLst>
      <p:ext uri="{BB962C8B-B14F-4D97-AF65-F5344CB8AC3E}">
        <p14:creationId xmlns:p14="http://schemas.microsoft.com/office/powerpoint/2010/main" val="14317282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401D7A-3F03-4BE5-B6BD-D502A0E8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12B run에서 NVFP4는 linear GEMM 입력에만 적용됩니다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EE50439-6358-4B64-AA7B-F8D62D19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EXPERIMENT</a:t>
            </a:r>
          </a:p>
        </p:txBody>
      </p:sp>
      <p:cxnSp>
        <p:nvCxnSpPr>
          <p:cNvPr id="14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CD4B9F-C040-447E-8481-22B3C01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38FD0D-EDBC-44D1-8D81-130F48E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NVFP4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D3EC5D99-103B-4AD1-BDDC-EAB22102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857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59D694-653C-4105-99F9-40F05476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2481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Linear layer의 세 GEMM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Fprop input</a:t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Dgrad input</a:t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Wgrad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GEMM output은 BF16 또는 FP32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9593D8-61F0-4321-A46F-ECE717B0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668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BF16 / FP32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355B3DF6-9783-4D68-A8C0-E516509B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21D1D7D-2DF5-4FCE-B3EE-D3BEF36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4343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embedding / output head / norm / nonlinearity</a:t>
            </a:r>
          </a:p>
          <a:p xmlns:a="http://schemas.openxmlformats.org/drawingml/2006/main">
            <a:pPr algn="l">
              <a:def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attention softmax, QK, score-V GEMM</a:t>
            </a:r>
          </a:p>
          <a:p xmlns:a="http://schemas.openxmlformats.org/drawingml/2006/main">
            <a:pPr algn="l">
              <a:def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FP32 master weights / accumulated Wgrad / optimizer</a:t>
            </a:r>
          </a:p>
          <a:p xmlns:a="http://schemas.openxmlformats.org/drawingml/2006/main">
            <a:pPr algn="l">
              <a:def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BF16 tensor-parallel reduction</a:t>
            </a:r>
          </a:p>
          <a:p xmlns:a="http://schemas.openxmlformats.org/drawingml/2006/main">
            <a:pPr algn="l">
              <a:def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first 2 + last 8 blocks의 linear layers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2F6589-B6CE-4FB2-81B3-0082E06C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61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따라서 ‘full-stack FP4 training’이라고 부르면 과장입니다.</a:t>
            </a:r>
          </a:p>
        </p:txBody>
      </p:sp>
    </p:spTree>
    <p:extLst>
      <p:ext uri="{BB962C8B-B14F-4D97-AF65-F5344CB8AC3E}">
        <p14:creationId xmlns:p14="http://schemas.microsoft.com/office/powerpoint/2010/main" val="4243579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980732-4E01-4BB9-A4E5-603C918D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10T token 동안 NVFP4 loss는 FP8을 가깝게 따라갑니다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4316840-2E29-42AA-9D81-F9B36601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RESULT</a:t>
            </a:r>
          </a:p>
        </p:txBody>
      </p:sp>
      <p:cxnSp>
        <p:nvCxnSpPr>
          <p:cNvPr id="13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26B1CB-2B11-47D5-9FE2-B9A0FEF0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8530a39664855"/>
          <a:stretch xmlns:a="http://schemas.openxmlformats.org/drawingml/2006/main"/>
        </p:blipFill>
        <p:spPr>
          <a:xfrm xmlns:a="http://schemas.openxmlformats.org/drawingml/2006/main">
            <a:off x="773132" y="1466850"/>
            <a:ext cx="6816687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44CD20-A57F-4C4F-8BEE-84F8C332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Stable phase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470CDA-86E0-4F13-B227-AFF862A7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relative loss gap &lt; 1%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030FE5-5285-4431-8580-8206EF6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Decay phase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E8CD79C-40CB-4DFF-A526-17769E47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rPr>
              <a:t>끝에서 약 1.5%+로 확대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501C15-9311-4AF2-ADBC-89084E8F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8T: LR decay 시작</a:t>
            </a:r>
          </a:p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9T: dataset blend 변경</a:t>
            </a:r>
          </a:p>
        </p:txBody>
      </p:sp>
    </p:spTree>
    <p:extLst>
      <p:ext uri="{BB962C8B-B14F-4D97-AF65-F5344CB8AC3E}">
        <p14:creationId xmlns:p14="http://schemas.microsoft.com/office/powerpoint/2010/main" val="14011469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4FE7B5-8A41-4D05-986E-0DED80EF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대부분의 downstream accuracy는 FP8과 비슷합니다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B6FA85C-F124-46E8-B057-FEA94410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RESULT</a:t>
            </a:r>
          </a:p>
        </p:txBody>
      </p:sp>
      <p:cxnSp>
        <p:nvCxnSpPr>
          <p:cNvPr id="10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BCF6CD-8104-417C-9765-8DF5271B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7cbd81b6f4070"/>
          <a:stretch xmlns:a="http://schemas.openxmlformats.org/drawingml/2006/main"/>
        </p:blipFill>
        <p:spPr>
          <a:xfrm xmlns:a="http://schemas.openxmlformats.org/drawingml/2006/main">
            <a:off x="514350" y="1528041"/>
            <a:ext cx="6191250" cy="424006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7048500" y="1619250"/>
          <a:ext xmlns:a="http://schemas.openxmlformats.org/drawingml/2006/main" cx="428625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43000"/>
                <a:gridCol w="114300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Task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FP8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NVFP4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MMLU-Pro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62.62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62.58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GSM8K CoT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89.08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92.27</a:t>
                      </a:r>
                    </a:p>
                  </a:txBody>
                  <a:tcPr marL="95250" marR="95250" marT="66675" marB="66675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MATH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83.32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81.48</a:t>
                      </a:r>
                    </a:p>
                  </a:txBody>
                  <a:tcPr marL="95250" marR="95250" marT="66675" marB="66675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HumanEval+</a:t>
                      </a:r>
                    </a:p>
                  </a:txBody>
                  <a:tcPr marL="95250" marR="95250" marT="66675" marB="66675">
                    <a:solidFill>
                      <a:srgbClr val="FFF2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59.93</a:t>
                      </a:r>
                    </a:p>
                  </a:txBody>
                  <a:tcPr marL="95250" marR="95250" marT="66675" marB="66675">
                    <a:solidFill>
                      <a:srgbClr val="FFF2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57.43</a:t>
                      </a:r>
                    </a:p>
                  </a:txBody>
                  <a:tcPr marL="95250" marR="95250" marT="66675" marB="66675">
                    <a:solidFill>
                      <a:srgbClr val="FFF2D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MBPP+</a:t>
                      </a:r>
                    </a:p>
                  </a:txBody>
                  <a:tcPr marL="95250" marR="95250" marT="66675" marB="66675">
                    <a:solidFill>
                      <a:srgbClr val="FFF2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59.11</a:t>
                      </a:r>
                    </a:p>
                  </a:txBody>
                  <a:tcPr marL="95250" marR="95250" marT="66675" marB="66675">
                    <a:solidFill>
                      <a:srgbClr val="FFF2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55.91</a:t>
                      </a:r>
                    </a:p>
                  </a:txBody>
                  <a:tcPr marL="95250" marR="95250" marT="66675" marB="66675">
                    <a:solidFill>
                      <a:srgbClr val="FFF2DB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5B24A5D-1ACF-45D3-8980-F87A8383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863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Headline 예: MMLU-Pro 62.58 vs 62.62</a:t>
            </a:r>
          </a:p>
        </p:txBody>
      </p:sp>
    </p:spTree>
    <p:extLst>
      <p:ext uri="{BB962C8B-B14F-4D97-AF65-F5344CB8AC3E}">
        <p14:creationId xmlns:p14="http://schemas.microsoft.com/office/powerpoint/2010/main" val="1187531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044C2-4CEA-41C8-8F2B-68051A38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결과를 읽을 때 세 가지 조건을 붙여야 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E0C0B0A-6AAC-4DB0-9E42-F840023C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RESULT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FEAEFF-1EA1-4087-B328-A6D85EE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572E6C-8119-438B-812A-24E8415D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B8662D-B983-4ECB-A815-AAB7FA2B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621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평가는 BF16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335CEF-F45A-4196-BC7A-B416701C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02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Table 2의 task accuracy는 NVFP4 inference가 아니라 BF16 evaluation입니다.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1657350" y="2647950"/>
            <a:ext cx="96583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E5BF83E-1BD7-4F72-9ABB-3F2732BA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4E34E5-CDA3-448E-AD18-066BBAF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908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loss gap은 남음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61D959C-0569-4856-AE4F-2A093BD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stable phase &lt;1%, decay 끝에서는 약 1.5%+로 벌어집니다.</a:t>
            </a:r>
          </a:p>
        </p:txBody>
      </p:sp>
      <p:cxnSp>
        <p:nvCxnSpPr>
          <p:cNvPr id="27" name="rule"/>
          <p:cNvCxnSpPr/>
          <p:nvPr/>
        </p:nvCxnSpPr>
        <p:spPr>
          <a:xfrm xmlns:a="http://schemas.openxmlformats.org/drawingml/2006/main">
            <a:off x="1657350" y="4076700"/>
            <a:ext cx="96583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C928B0-CB08-4217-92DD-D2D25A3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4C6D1D9-779F-4ACD-A392-BC17C9A9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96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code는 약세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E83D583-A32D-42C5-9E49-C49A2D54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577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HumanEval+와 MBPP+에서 FP8보다 낮고, 저자는 noisy checkpoint 가능성을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7625474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98F5EE-9DE3-46F0-9A8D-04035FEE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Naive NVFP4는 ‘전부 FP4 + 기본 scale + RNE’라서 발산합니다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B299652-806E-45C3-837B-0AC4A67C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METHODOLOGY</a:t>
            </a:r>
          </a:p>
        </p:txBody>
      </p:sp>
      <p:cxnSp>
        <p:nvCxnSpPr>
          <p:cNvPr id="14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6740AB-5252-47CC-B09B-AF98AFDD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355BBF07-3DD2-4000-8368-395C4059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048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6132C6-AAFD-4E15-93F4-CC7A609E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Appendix E의 base method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8E113E8-2764-432B-A529-C8AE239F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모든 linear layer를 NVFP4</a:t>
            </a:r>
          </a:p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모든 tensor에 1×16 scaling</a:t>
            </a:r>
          </a:p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모든 tensor에 round-to-nearest-even</a:t>
            </a:r>
          </a:p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추가 안정화 장치 없음</a:t>
            </a:r>
          </a:p>
        </p:txBody>
      </p:sp>
      <p:cxnSp>
        <p:nvCxnSpPr>
          <p:cNvPr id="19" name="arrow"/>
          <p:cNvCxnSpPr/>
          <p:nvPr/>
        </p:nvCxnSpPr>
        <p:spPr>
          <a:xfrm xmlns:a="http://schemas.openxmlformats.org/drawingml/2006/main">
            <a:off x="5962650" y="3219450"/>
            <a:ext cx="9525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4A4A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5402159-C80C-4C3A-9591-037E467D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조기 발산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80B2C2-BB43-45A6-8169-72EEDEAC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3619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FP4가 나빠서가 아니라</a:t>
            </a:r>
          </a:p>
          <a:p xmlns:a="http://schemas.openxmlformats.org/drawingml/2006/main">
            <a:pPr algn="ctr">
              <a:def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오차가 들어가는 위치마다 다른 처방이 필요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13E6D6-EB76-43FF-B4EB-06460153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Section 4는 이 실패 원인을 하나씩 제거한 이야기입니다.</a:t>
            </a:r>
          </a:p>
        </p:txBody>
      </p:sp>
    </p:spTree>
    <p:extLst>
      <p:ext uri="{BB962C8B-B14F-4D97-AF65-F5344CB8AC3E}">
        <p14:creationId xmlns:p14="http://schemas.microsoft.com/office/powerpoint/2010/main" val="5415542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1CBEF-ABCD-492B-9710-A67264AE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논문의 recipe는 네 가지 실패에 네 가지 처방을 붙입니다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9F13CB7-46FD-410A-8490-C7C3A5DD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METHODOLOGY</a:t>
            </a:r>
          </a:p>
        </p:txBody>
      </p:sp>
      <p:cxnSp>
        <p:nvCxnSpPr>
          <p:cNvPr id="27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76C891-0371-44E7-AC1E-501A432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6ED468A2-9578-411B-B5DC-64C0814B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C06F183-D940-4D88-962B-D5DE635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50CFE0-2192-452E-B312-70A1588F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9542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민감 layer의 range 부족</a:t>
            </a:r>
          </a:p>
        </p:txBody>
      </p:sp>
      <p:cxnSp>
        <p:nvCxnSpPr>
          <p:cNvPr id="32" name="arrow"/>
          <p:cNvCxnSpPr/>
          <p:nvPr/>
        </p:nvCxnSpPr>
        <p:spPr>
          <a:xfrm xmlns:a="http://schemas.openxmlformats.org/drawingml/2006/main">
            <a:off x="5810250" y="1828800"/>
            <a:ext cx="8572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A00DAE3-037B-476D-A3A8-32D67EB3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일부 linear layer를 BF16/MXFP8로 유지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960FB96D-6A0F-4A78-B30B-8FC8D260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BDD7313-E674-4B9A-9D86-06D4A2F0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B7F208-C2CC-4B30-AEF6-B29A16B5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1937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Wgrad input의 block outlier</a:t>
            </a:r>
          </a:p>
        </p:txBody>
      </p:sp>
      <p:cxnSp>
        <p:nvCxnSpPr>
          <p:cNvPr id="37" name="arrow"/>
          <p:cNvCxnSpPr/>
          <p:nvPr/>
        </p:nvCxnSpPr>
        <p:spPr>
          <a:xfrm xmlns:a="http://schemas.openxmlformats.org/drawingml/2006/main">
            <a:off x="5810250" y="2952750"/>
            <a:ext cx="8572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1CB27AF-EA8D-4225-BA6B-A8C921E6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16×16 Random Hadamard transform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49E3389E-3504-45B5-B1A3-8EB2CCAE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E549CF-E320-4FA9-BAD1-1B79EF75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F13E350-BA67-43FC-8545-B84C566A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4332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transpose 뒤 weight 표현 불일치</a:t>
            </a:r>
          </a:p>
        </p:txBody>
      </p:sp>
      <p:cxnSp>
        <p:nvCxnSpPr>
          <p:cNvPr id="42" name="arrow"/>
          <p:cNvCxnSpPr/>
          <p:nvPr/>
        </p:nvCxnSpPr>
        <p:spPr>
          <a:xfrm xmlns:a="http://schemas.openxmlformats.org/drawingml/2006/main">
            <a:off x="5810250" y="4076700"/>
            <a:ext cx="8572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2AC06C2-BA3A-40A0-9268-F62E53B9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433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rPr>
              <a:t>weight에 16×16 2D scaling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AB845E6E-A661-4C5E-851A-56590FA5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633A8FF-9C33-48D3-9F60-C2DF5562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70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317102A-D2FB-410C-8063-38DA531D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6727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gradient rounding bias</a:t>
            </a:r>
          </a:p>
        </p:txBody>
      </p:sp>
      <p:cxnSp>
        <p:nvCxnSpPr>
          <p:cNvPr id="47" name="arrow"/>
          <p:cNvCxnSpPr/>
          <p:nvPr/>
        </p:nvCxnSpPr>
        <p:spPr>
          <a:xfrm xmlns:a="http://schemas.openxmlformats.org/drawingml/2006/main">
            <a:off x="5810250" y="5200650"/>
            <a:ext cx="8572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A72C956-B3A9-459E-A37C-C98C8BAF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672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7A5AF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7A5AF8"/>
                </a:solidFill>
                <a:latin typeface="Malgun Gothic"/>
                <a:ea typeface="Malgun Gothic"/>
                <a:cs typeface="Malgun Gothic"/>
              </a:rPr>
              <a:t>gradient에 stochastic rounding</a:t>
            </a:r>
          </a:p>
        </p:txBody>
      </p:sp>
    </p:spTree>
    <p:extLst>
      <p:ext uri="{BB962C8B-B14F-4D97-AF65-F5344CB8AC3E}">
        <p14:creationId xmlns:p14="http://schemas.microsoft.com/office/powerpoint/2010/main" val="5602220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7DFD94-76FC-4AB8-9475-81C6C5A7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한 linear layer에는 서로 다른 역할의 GEMM이 세 번 등장합니다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972D149-9DBE-4F14-9097-8D9C6097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METHODOLOGY</a:t>
            </a:r>
          </a:p>
        </p:txBody>
      </p:sp>
      <p:cxnSp>
        <p:nvCxnSpPr>
          <p:cNvPr id="15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3AACECE-13F0-4A19-B610-6C23D79E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5b25355f646c7"/>
          <a:stretch xmlns:a="http://schemas.openxmlformats.org/drawingml/2006/main"/>
        </p:blipFill>
        <p:spPr>
          <a:xfrm xmlns:a="http://schemas.openxmlformats.org/drawingml/2006/main">
            <a:off x="3714750" y="1358117"/>
            <a:ext cx="7905750" cy="3798867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E00D05-303C-4B3D-AF16-AC9F2641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Fprop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145224-F929-46FF-B742-BF934871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activation × weight</a:t>
            </a:r>
          </a:p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→ 다음 layer activation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F4C363A-BB3A-42DA-BFCF-424C6310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Dgrad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43BAA41-DC41-4D5E-A2D8-AA6478CF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activation gradient 계산</a:t>
            </a:r>
          </a:p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→ 이전 layer로 전달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444A88-E17E-4754-9EB2-417EE612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rPr>
              <a:t>Wgrad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37C789-5F13-41C8-B0BF-3061B84A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weight gradient 계산</a:t>
            </a:r>
          </a:p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→ optimizer가 weight 갱신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37165E-701C-4C5E-81B3-ED82EDC4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106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같은 FP4 처방을 세 GEMM에 무조건 적용하면 안 됩니다.</a:t>
            </a:r>
          </a:p>
        </p:txBody>
      </p:sp>
    </p:spTree>
    <p:extLst>
      <p:ext uri="{BB962C8B-B14F-4D97-AF65-F5344CB8AC3E}">
        <p14:creationId xmlns:p14="http://schemas.microsoft.com/office/powerpoint/2010/main" val="10744364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688F4C-8BA6-44CC-A89F-DCD2FB27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Fix 1 · 마지막 쪽 민감 layer를 고정밀로 남깁니다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1297464-29B7-4190-8E21-7970D0A1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METHODOLOGY</a:t>
            </a:r>
          </a:p>
        </p:txBody>
      </p:sp>
      <p:cxnSp>
        <p:nvCxnSpPr>
          <p:cNvPr id="78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CFCB43-5EAB-492D-AAA3-011C3464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54BA9A9-249B-4781-8C47-F2216BEF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왜?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C5ED763-0BD2-4D4C-A0D7-7C1B45D0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430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마지막 linear layer들은 Wgrad quantization error가 크고, FP4보다 더 넓은 range·mantissa를 요구합니다.</a:t>
            </a:r>
          </a:p>
        </p:txBody>
      </p:sp>
      <p:cxnSp>
        <p:nvCxnSpPr>
          <p:cNvPr id="82" name="rule"/>
          <p:cNvCxnSpPr/>
          <p:nvPr/>
        </p:nvCxnSpPr>
        <p:spPr>
          <a:xfrm xmlns:a="http://schemas.openxmlformats.org/drawingml/2006/main">
            <a:off x="685800" y="2628900"/>
            <a:ext cx="10458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FCCE061-322B-4196-8876-EEB5842C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1D13DEC1-8B2B-4697-A455-3F530F31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12D03E6C-5A80-4D45-97D5-D91D8313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ED4B1983-F033-41B9-B2FD-290DA99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666DE88-AF7E-42D8-8753-E0957F79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904FF60-21DA-49A4-B168-47CD8201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0EF31DC-DCC0-49AE-902B-9052169C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14D64227-A4C2-4841-9BAC-D7A5DDD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94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F55C1FDE-7601-4EE4-8C3E-D8D18437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20398FA5-1DE4-4668-97B8-2AEF7DFF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5D1C5196-6B74-4419-A580-BFC2749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06898A18-C2B8-4552-B6C2-8C9972E5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88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0A217F2D-67B8-4261-A889-8CDA431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683309E3-DE1E-4EB8-A425-1A713C7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35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84B9B097-2FF4-4DFD-9301-FA006E1F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A2CC54EC-DF58-415E-9415-1DB6499D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85A0F906-264F-46DD-A8FD-B04CA39A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0CEE79A9-EAC4-44A9-A734-EA7CB93A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29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C62F2695-6331-46EC-9696-C11CD6F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03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E35E36BF-DB25-4FD7-BFAF-3FE83E36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76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7965BBF6-F74A-4A17-A2F3-75A0948B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A35CD09F-3D1D-465C-83DB-102ED3C8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23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0F12FF52-56F4-4148-BCE6-4FD5F6FC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7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BC2521BF-D5A5-49BA-B47F-E0B42C00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B5376C18-C4D1-42B4-B0E0-52DDCF3D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2AF17495-09F1-48F6-84D8-8CAFD8D3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urface">
            <a:extLst xmlns:a="http://schemas.openxmlformats.org/drawingml/2006/main">
              <a:ext uri="{FF2B5EF4-FFF2-40B4-BE49-F238E27FC236}">
                <a16:creationId xmlns:a16="http://schemas.microsoft.com/office/drawing/2014/main" id="{6FF37418-EE19-4AF4-B20F-912AC6F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91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E72CE323-E01C-4B22-8599-4CEEB43C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urface">
            <a:extLst xmlns:a="http://schemas.openxmlformats.org/drawingml/2006/main">
              <a:ext uri="{FF2B5EF4-FFF2-40B4-BE49-F238E27FC236}">
                <a16:creationId xmlns:a16="http://schemas.microsoft.com/office/drawing/2014/main" id="{2158BFEC-9002-4544-A761-762B8C67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38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urface">
            <a:extLst xmlns:a="http://schemas.openxmlformats.org/drawingml/2006/main">
              <a:ext uri="{FF2B5EF4-FFF2-40B4-BE49-F238E27FC236}">
                <a16:creationId xmlns:a16="http://schemas.microsoft.com/office/drawing/2014/main" id="{9B5E7A0E-079F-44AD-ABF7-00A0B23C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11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urface">
            <a:extLst xmlns:a="http://schemas.openxmlformats.org/drawingml/2006/main">
              <a:ext uri="{FF2B5EF4-FFF2-40B4-BE49-F238E27FC236}">
                <a16:creationId xmlns:a16="http://schemas.microsoft.com/office/drawing/2014/main" id="{915D4143-AA61-4349-855C-68C11A52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urface">
            <a:extLst xmlns:a="http://schemas.openxmlformats.org/drawingml/2006/main">
              <a:ext uri="{FF2B5EF4-FFF2-40B4-BE49-F238E27FC236}">
                <a16:creationId xmlns:a16="http://schemas.microsoft.com/office/drawing/2014/main" id="{A9BD629C-DB96-4BB8-A774-29225DB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58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urface">
            <a:extLst xmlns:a="http://schemas.openxmlformats.org/drawingml/2006/main">
              <a:ext uri="{FF2B5EF4-FFF2-40B4-BE49-F238E27FC236}">
                <a16:creationId xmlns:a16="http://schemas.microsoft.com/office/drawing/2014/main" id="{5AE4C0CD-A306-42B2-8E20-57C50B61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urface">
            <a:extLst xmlns:a="http://schemas.openxmlformats.org/drawingml/2006/main">
              <a:ext uri="{FF2B5EF4-FFF2-40B4-BE49-F238E27FC236}">
                <a16:creationId xmlns:a16="http://schemas.microsoft.com/office/drawing/2014/main" id="{460F949F-288C-4F9C-BAF7-A1F73B81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05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urface">
            <a:extLst xmlns:a="http://schemas.openxmlformats.org/drawingml/2006/main">
              <a:ext uri="{FF2B5EF4-FFF2-40B4-BE49-F238E27FC236}">
                <a16:creationId xmlns:a16="http://schemas.microsoft.com/office/drawing/2014/main" id="{D4D96F69-C40D-4D90-8B87-725628E1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79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urface">
            <a:extLst xmlns:a="http://schemas.openxmlformats.org/drawingml/2006/main">
              <a:ext uri="{FF2B5EF4-FFF2-40B4-BE49-F238E27FC236}">
                <a16:creationId xmlns:a16="http://schemas.microsoft.com/office/drawing/2014/main" id="{803A2D5A-87BD-4820-A35C-E94E6199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urface">
            <a:extLst xmlns:a="http://schemas.openxmlformats.org/drawingml/2006/main">
              <a:ext uri="{FF2B5EF4-FFF2-40B4-BE49-F238E27FC236}">
                <a16:creationId xmlns:a16="http://schemas.microsoft.com/office/drawing/2014/main" id="{AF1363EC-E03B-441B-91F6-81D6962A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urface">
            <a:extLst xmlns:a="http://schemas.openxmlformats.org/drawingml/2006/main">
              <a:ext uri="{FF2B5EF4-FFF2-40B4-BE49-F238E27FC236}">
                <a16:creationId xmlns:a16="http://schemas.microsoft.com/office/drawing/2014/main" id="{EA88C457-A56F-495E-BAA7-3E6CC285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9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urface">
            <a:extLst xmlns:a="http://schemas.openxmlformats.org/drawingml/2006/main">
              <a:ext uri="{FF2B5EF4-FFF2-40B4-BE49-F238E27FC236}">
                <a16:creationId xmlns:a16="http://schemas.microsoft.com/office/drawing/2014/main" id="{8BF070AE-BE14-4D42-A1EB-D3EB7DA7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3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urface">
            <a:extLst xmlns:a="http://schemas.openxmlformats.org/drawingml/2006/main">
              <a:ext uri="{FF2B5EF4-FFF2-40B4-BE49-F238E27FC236}">
                <a16:creationId xmlns:a16="http://schemas.microsoft.com/office/drawing/2014/main" id="{4E85D94E-EFD8-441D-9738-76E6067F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46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urface">
            <a:extLst xmlns:a="http://schemas.openxmlformats.org/drawingml/2006/main">
              <a:ext uri="{FF2B5EF4-FFF2-40B4-BE49-F238E27FC236}">
                <a16:creationId xmlns:a16="http://schemas.microsoft.com/office/drawing/2014/main" id="{6C578F18-781F-4A17-8F3E-01E3354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urface">
            <a:extLst xmlns:a="http://schemas.openxmlformats.org/drawingml/2006/main">
              <a:ext uri="{FF2B5EF4-FFF2-40B4-BE49-F238E27FC236}">
                <a16:creationId xmlns:a16="http://schemas.microsoft.com/office/drawing/2014/main" id="{723F212F-F22E-46C2-96C2-39A910A9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urface">
            <a:extLst xmlns:a="http://schemas.openxmlformats.org/drawingml/2006/main">
              <a:ext uri="{FF2B5EF4-FFF2-40B4-BE49-F238E27FC236}">
                <a16:creationId xmlns:a16="http://schemas.microsoft.com/office/drawing/2014/main" id="{88D83577-181D-4CF8-B389-D209D3C7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67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urface">
            <a:extLst xmlns:a="http://schemas.openxmlformats.org/drawingml/2006/main">
              <a:ext uri="{FF2B5EF4-FFF2-40B4-BE49-F238E27FC236}">
                <a16:creationId xmlns:a16="http://schemas.microsoft.com/office/drawing/2014/main" id="{6E5C25BC-CF6F-4304-B03A-7C0127B8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40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urface">
            <a:extLst xmlns:a="http://schemas.openxmlformats.org/drawingml/2006/main">
              <a:ext uri="{FF2B5EF4-FFF2-40B4-BE49-F238E27FC236}">
                <a16:creationId xmlns:a16="http://schemas.microsoft.com/office/drawing/2014/main" id="{BAA8E346-6C4D-439C-BE1F-B612108D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14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urface">
            <a:extLst xmlns:a="http://schemas.openxmlformats.org/drawingml/2006/main">
              <a:ext uri="{FF2B5EF4-FFF2-40B4-BE49-F238E27FC236}">
                <a16:creationId xmlns:a16="http://schemas.microsoft.com/office/drawing/2014/main" id="{6B7A2220-5916-45C8-A2FB-CCD29E93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urface">
            <a:extLst xmlns:a="http://schemas.openxmlformats.org/drawingml/2006/main">
              <a:ext uri="{FF2B5EF4-FFF2-40B4-BE49-F238E27FC236}">
                <a16:creationId xmlns:a16="http://schemas.microsoft.com/office/drawing/2014/main" id="{B0E3D25F-D2FD-4B5C-91CF-357B383D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urface">
            <a:extLst xmlns:a="http://schemas.openxmlformats.org/drawingml/2006/main">
              <a:ext uri="{FF2B5EF4-FFF2-40B4-BE49-F238E27FC236}">
                <a16:creationId xmlns:a16="http://schemas.microsoft.com/office/drawing/2014/main" id="{3260FC8D-929D-4A3C-8E32-5BDA0E8D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34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urface">
            <a:extLst xmlns:a="http://schemas.openxmlformats.org/drawingml/2006/main">
              <a:ext uri="{FF2B5EF4-FFF2-40B4-BE49-F238E27FC236}">
                <a16:creationId xmlns:a16="http://schemas.microsoft.com/office/drawing/2014/main" id="{23739900-6A88-41BF-8F50-F0D3546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urface">
            <a:extLst xmlns:a="http://schemas.openxmlformats.org/drawingml/2006/main">
              <a:ext uri="{FF2B5EF4-FFF2-40B4-BE49-F238E27FC236}">
                <a16:creationId xmlns:a16="http://schemas.microsoft.com/office/drawing/2014/main" id="{58898A6B-FC91-413C-8EF2-4853EE54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81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urface">
            <a:extLst xmlns:a="http://schemas.openxmlformats.org/drawingml/2006/main">
              <a:ext uri="{FF2B5EF4-FFF2-40B4-BE49-F238E27FC236}">
                <a16:creationId xmlns:a16="http://schemas.microsoft.com/office/drawing/2014/main" id="{A5AB241D-AD58-42A3-8B85-E92733FB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urface">
            <a:extLst xmlns:a="http://schemas.openxmlformats.org/drawingml/2006/main">
              <a:ext uri="{FF2B5EF4-FFF2-40B4-BE49-F238E27FC236}">
                <a16:creationId xmlns:a16="http://schemas.microsoft.com/office/drawing/2014/main" id="{854B3AD2-D834-4427-93AD-DFBC5CA0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28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urface">
            <a:extLst xmlns:a="http://schemas.openxmlformats.org/drawingml/2006/main">
              <a:ext uri="{FF2B5EF4-FFF2-40B4-BE49-F238E27FC236}">
                <a16:creationId xmlns:a16="http://schemas.microsoft.com/office/drawing/2014/main" id="{AD46E220-1E27-4176-B9FD-A36D5FCB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2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urface">
            <a:extLst xmlns:a="http://schemas.openxmlformats.org/drawingml/2006/main">
              <a:ext uri="{FF2B5EF4-FFF2-40B4-BE49-F238E27FC236}">
                <a16:creationId xmlns:a16="http://schemas.microsoft.com/office/drawing/2014/main" id="{B9AD2B44-DB62-4F95-9B9E-2527C271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75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urface">
            <a:extLst xmlns:a="http://schemas.openxmlformats.org/drawingml/2006/main">
              <a:ext uri="{FF2B5EF4-FFF2-40B4-BE49-F238E27FC236}">
                <a16:creationId xmlns:a16="http://schemas.microsoft.com/office/drawing/2014/main" id="{826698C9-76BD-4578-8CD3-777FB1C3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urface">
            <a:extLst xmlns:a="http://schemas.openxmlformats.org/drawingml/2006/main">
              <a:ext uri="{FF2B5EF4-FFF2-40B4-BE49-F238E27FC236}">
                <a16:creationId xmlns:a16="http://schemas.microsoft.com/office/drawing/2014/main" id="{65649C92-7842-4011-A00B-238E6FAB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surface">
            <a:extLst xmlns:a="http://schemas.openxmlformats.org/drawingml/2006/main">
              <a:ext uri="{FF2B5EF4-FFF2-40B4-BE49-F238E27FC236}">
                <a16:creationId xmlns:a16="http://schemas.microsoft.com/office/drawing/2014/main" id="{3150D7B7-E427-4D79-8A99-79B9B3D7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urface">
            <a:extLst xmlns:a="http://schemas.openxmlformats.org/drawingml/2006/main">
              <a:ext uri="{FF2B5EF4-FFF2-40B4-BE49-F238E27FC236}">
                <a16:creationId xmlns:a16="http://schemas.microsoft.com/office/drawing/2014/main" id="{D0688394-CB12-40A8-8FC9-DE38D5B0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69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urface">
            <a:extLst xmlns:a="http://schemas.openxmlformats.org/drawingml/2006/main">
              <a:ext uri="{FF2B5EF4-FFF2-40B4-BE49-F238E27FC236}">
                <a16:creationId xmlns:a16="http://schemas.microsoft.com/office/drawing/2014/main" id="{9AE9F406-BF46-4217-8E47-ADAC8854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43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urface">
            <a:extLst xmlns:a="http://schemas.openxmlformats.org/drawingml/2006/main">
              <a:ext uri="{FF2B5EF4-FFF2-40B4-BE49-F238E27FC236}">
                <a16:creationId xmlns:a16="http://schemas.microsoft.com/office/drawing/2014/main" id="{72FFFB8E-BC83-424C-86FD-3BEAE52D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16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urface">
            <a:extLst xmlns:a="http://schemas.openxmlformats.org/drawingml/2006/main">
              <a:ext uri="{FF2B5EF4-FFF2-40B4-BE49-F238E27FC236}">
                <a16:creationId xmlns:a16="http://schemas.microsoft.com/office/drawing/2014/main" id="{9CF9C517-BEC0-4271-B7CC-75D865A5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urface">
            <a:extLst xmlns:a="http://schemas.openxmlformats.org/drawingml/2006/main">
              <a:ext uri="{FF2B5EF4-FFF2-40B4-BE49-F238E27FC236}">
                <a16:creationId xmlns:a16="http://schemas.microsoft.com/office/drawing/2014/main" id="{746A8215-FCC2-4173-9924-B68F391C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635" y="3333750"/>
            <a:ext cx="123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796CD7B8-FFE4-4019-AA8B-905E144A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first 2</a:t>
            </a:r>
          </a:p>
        </p:txBody>
      </p:sp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EB163E0D-3D72-4F76-A39B-A74A424C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62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대부분 NVFP4</a:t>
            </a:r>
          </a:p>
        </p:txBody>
      </p: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90104A4B-5E0F-44A9-BE27-03D899BD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62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last 8</a:t>
            </a:r>
          </a:p>
        </p:txBody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0F84CEF6-A751-4233-9AF7-6FB6BADF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16%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96593B99-16BD-4E61-A13E-99F924FE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12B main run에서 BF16로</a:t>
            </a:r>
          </a:p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남긴 linear layers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17FABB15-52B3-44CF-94C5-BCBEA9B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43500"/>
            <a:ext cx="695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Ablation은 last 4 blocks만 BF16이어도 안정적일 수 있음을 보였습니다.</a:t>
            </a:r>
          </a:p>
        </p:txBody>
      </p:sp>
    </p:spTree>
    <p:extLst>
      <p:ext uri="{BB962C8B-B14F-4D97-AF65-F5344CB8AC3E}">
        <p14:creationId xmlns:p14="http://schemas.microsoft.com/office/powerpoint/2010/main" val="12675961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91804C-EB64-4DB8-B295-AC3BB5B4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Fix 2 · RHT는 큰 outlier 하나를 여러 값으로 분산합니다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5892A9D-168E-4187-B9E5-2EABD6CC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METHODOLOGY</a:t>
            </a:r>
          </a:p>
        </p:txBody>
      </p:sp>
      <p:cxnSp>
        <p:nvCxnSpPr>
          <p:cNvPr id="30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231CED-C1DC-47B7-A6D0-54207EA4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7DEC81-F010-4F16-A001-5D699CA7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변환 전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8B4A2F12-24D5-410A-A83F-76A82F84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266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B4802D1-5E36-4BBC-93E9-FA29B45A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52825"/>
            <a:ext cx="266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41F2BE9-A8E0-4DCF-811B-6B8FE9D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90900"/>
            <a:ext cx="26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25BA0F67-A312-45BF-9A57-DBFA05CC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52825"/>
            <a:ext cx="266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4C29926D-B5FD-49C3-B393-EBBDF3E8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52825"/>
            <a:ext cx="266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51C8759D-042C-43D2-8A65-DA7F5E94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71650"/>
            <a:ext cx="2667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CA6BF4B-DC04-473E-B822-A774F739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52825"/>
            <a:ext cx="266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09BDA24-027E-49B2-9DFC-BB39EC95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90900"/>
            <a:ext cx="266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BC888B3-ADD6-406C-BB10-9C7AF616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block scale이 outlier에 맞춰져</a:t>
            </a:r>
          </a:p>
          <a:p xmlns:a="http://schemas.openxmlformats.org/drawingml/2006/main">
            <a:pPr algn="ctr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작은 값이 0으로 사라지기 쉬움</a:t>
            </a:r>
          </a:p>
        </p:txBody>
      </p:sp>
      <p:cxnSp>
        <p:nvCxnSpPr>
          <p:cNvPr id="42" name="arrow"/>
          <p:cNvCxnSpPr/>
          <p:nvPr/>
        </p:nvCxnSpPr>
        <p:spPr>
          <a:xfrm xmlns:a="http://schemas.openxmlformats.org/drawingml/2006/main">
            <a:off x="4762500" y="3048000"/>
            <a:ext cx="17145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8A82E"/>
            </a:solidFill>
            <a:prstDash val="solid"/>
          </a:ln>
        </p:spPr>
      </p:cxn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7601B3D-74D8-4170-AB01-B729E4EE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16×16</a:t>
            </a:r>
          </a:p>
          <a:p xmlns:a="http://schemas.openxmlformats.org/drawingml/2006/main">
            <a:pPr algn="ctr">
              <a:defRPr sz="15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Random Hadamard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4B5A328-62BD-4E00-B328-BB93ABF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변환 후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9EEF455C-671F-4407-8881-803B6D8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2667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5C4F9181-4595-4A2B-873D-44E19154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266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72B96C2-E27B-4694-91B2-493555AC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2667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B793D020-2A60-4817-A680-78E9A83D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67050"/>
            <a:ext cx="266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37606180-34BC-4FD9-9596-25C032C2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05125"/>
            <a:ext cx="2667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57196FBB-9F4F-4631-AB05-9B4181FA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266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CDD7D80A-12B7-4AE4-A11A-24F51330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05125"/>
            <a:ext cx="2667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B569E9F5-893A-488F-B474-D3EC41EB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67050"/>
            <a:ext cx="266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F689EDC-135B-48B9-A4D2-F765A6A5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957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에너지가 여러 값에 퍼져</a:t>
            </a:r>
          </a:p>
          <a:p xmlns:a="http://schemas.openxmlformats.org/drawingml/2006/main">
            <a:pPr algn="ctr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FP4 block이 다루기 쉬운 분포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AAA89C9-2452-48A0-A678-5CD5DC53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Orthogonal transform이라 두 operand에 맞춰 적용하면 dot product 자체는 보존할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399425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97DF25-3F1F-4B2E-8378-1D92EDB3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RHT는 Wgrad 입력에만 적용하는 것이 가장 유리했습니다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49B00BB-DA02-4496-AD4D-516B141B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METHODOLOGY</a:t>
            </a:r>
          </a:p>
        </p:txBody>
      </p:sp>
      <p:cxnSp>
        <p:nvCxnSpPr>
          <p:cNvPr id="15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CF3C1D-236D-4BAF-8D57-3146B114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600075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238250"/>
                <a:gridCol w="2762250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위치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논문 해석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Wgrad inputs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outlier 완화 이득이 큼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Fprop inputs</a:t>
                      </a:r>
                    </a:p>
                  </a:txBody>
                  <a:tcPr marL="95250" marR="95250" marT="66675" marB="66675"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악화</a:t>
                      </a:r>
                    </a:p>
                  </a:txBody>
                  <a:tcPr marL="95250" marR="95250" marT="66675" marB="66675"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quantization error가 이득 상쇄</a:t>
                      </a:r>
                    </a:p>
                  </a:txBody>
                  <a:tcPr marL="95250" marR="95250" marT="66675" marB="66675">
                    <a:solidFill>
                      <a:srgbClr val="FDEAE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Dgrad inputs</a:t>
                      </a:r>
                    </a:p>
                  </a:txBody>
                  <a:tcPr marL="95250" marR="95250" marT="66675" marB="66675"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악화</a:t>
                      </a:r>
                    </a:p>
                  </a:txBody>
                  <a:tcPr marL="95250" marR="95250" marT="66675" marB="66675"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quantization error가 이득 상쇄</a:t>
                      </a:r>
                    </a:p>
                  </a:txBody>
                  <a:tcPr marL="95250" marR="95250" marT="66675" marB="66675">
                    <a:solidFill>
                      <a:srgbClr val="FDEAEA"/>
                    </a:solidFill>
                  </a:tcPr>
                </a:tc>
              </a:tr>
            </a:tbl>
          </a:graphicData>
        </a:graphic>
      </p:graphicFrame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A5081B89-AEAA-4C6D-B56C-0D833379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5735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45ECF4-B016-4463-8E50-5E24D4EC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선택한 설정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4C40A99-0EB2-4423-A7BD-82C4B555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Wgrad input에 16×16 RHT</a:t>
            </a:r>
          </a:p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한 개 fixed random sign vector를 전체 학습에서 공유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1CB373C5-9D7A-4FB7-BC98-1565A7C2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4330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24F16C-4E98-4E3F-BE36-A2824165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왜 weight에는 안 쓰나?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0FA07B-4BBB-46FE-A15D-779C3A43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weight를 서로 다른 방향으로 변환·양자화하면 forward/backward 표현 불일치가 더 커집니다.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D6C53D-4448-4C64-BA09-378AC706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53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‘outlier 제거는 항상 좋다’가 아니라, 위치별 추가 오차까지 비교해야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9019462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E7F2D4-AA0D-40FC-9533-2498A195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Fix 3 · 2D weight scaling은 forward와 backward의 weight를 같게 만듭니다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94001F3-7C1E-446C-8C89-D5490104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METHODOLOGY</a:t>
            </a:r>
          </a:p>
        </p:txBody>
      </p:sp>
      <p:cxnSp>
        <p:nvCxnSpPr>
          <p:cNvPr id="31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E302AB-3FEF-4ECC-95A0-727900C8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B43B43-3D9F-4102-9B7B-08155941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1×16 scaling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855EB5-34A8-4536-9128-C3A65E7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forward: row 방향 block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backward: transpose 후 column 방향 block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E075630-7D30-4F51-B71A-8D7E547A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94A4A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D94A4A"/>
                </a:solidFill>
                <a:latin typeface="Consolas"/>
                <a:ea typeface="Consolas"/>
                <a:cs typeface="Consolas"/>
              </a:rPr>
              <a:t>W_fprop ≠ W_bprop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86E2781-18C4-4394-86E4-4F6109A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backprop이 forward와 다른 함수의 gradient를 계산</a:t>
            </a:r>
          </a:p>
        </p:txBody>
      </p:sp>
      <p:cxnSp>
        <p:nvCxnSpPr>
          <p:cNvPr id="37" name="arrow"/>
          <p:cNvCxnSpPr/>
          <p:nvPr/>
        </p:nvCxnSpPr>
        <p:spPr>
          <a:xfrm xmlns:a="http://schemas.openxmlformats.org/drawingml/2006/main">
            <a:off x="4953000" y="3143250"/>
            <a:ext cx="11430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139895-FCD8-4C0A-9878-C878A4B9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16×16 2D scaling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776E52C-2029-4D2F-9120-5F4EA413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9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D9CD5B9F-AFE7-47C6-A170-7F4EAD1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09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611B93E-8B3D-424C-815E-3BCF966A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16D34EA-E021-45FC-B6F2-835721D0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ADAACE9F-B4AB-43A1-BA73-EDDE8CCB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CA9C2329-749A-4D08-ABA7-4473D6C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956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0995F9D9-1D5D-480A-B10B-22E552C3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854A9858-8BAD-40B6-B55E-1690579F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41C769F1-EFAD-495A-9C6A-1A3A8EF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81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CAC6C3B5-E838-492E-BC1E-721C2FF5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1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7AEF7D12-3393-42D8-A3F9-53190A2A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683B3094-91C7-4E93-91E5-C5B11CFD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814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B2DBDC79-B842-4639-BE34-3924411C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672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B8C288B0-7C6A-4A3E-98FD-06EA583F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672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FE8CA827-7C73-4186-8115-7DD2129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D058E756-4C83-47A8-90B3-3E029765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672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9525">
            <a:solidFill>
              <a:srgbClr val="48A82E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7F409DF-23E7-43AC-BE0A-26BD026D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05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한 tile scale을 transpose 양쪽에서 재사용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A5C792B-E989-4C89-89CD-273A62A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19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48A82E"/>
                </a:solidFill>
                <a:latin typeface="Consolas"/>
                <a:ea typeface="Consolas"/>
                <a:cs typeface="Consolas"/>
              </a:defRPr>
            </a:pPr>
            <a:r>
              <a:rPr sz="2175" b="1" i="0">
                <a:solidFill>
                  <a:srgbClr val="48A82E"/>
                </a:solidFill>
                <a:latin typeface="Consolas"/>
                <a:ea typeface="Consolas"/>
                <a:cs typeface="Consolas"/>
              </a:rPr>
              <a:t>W_fprop = W_bprop</a:t>
            </a:r>
          </a:p>
        </p:txBody>
      </p:sp>
    </p:spTree>
    <p:extLst>
      <p:ext uri="{BB962C8B-B14F-4D97-AF65-F5344CB8AC3E}">
        <p14:creationId xmlns:p14="http://schemas.microsoft.com/office/powerpoint/2010/main" val="17653788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0174E7-DB89-4A3E-A7D0-86CFEA67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Fix 4 · stochastic rounding은 작은 gradient의 방향 편향을 줄입니다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F7A2A92-97C8-40F8-B593-729124C3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METHODOLOGY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5B2B45-CB45-4D25-BB79-4A6ED02C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55B00D-85AC-4934-8C4A-CF87C91A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표현 가능한 두 값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6193705D-7EBD-4E8D-8F4D-CCB5CF2B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5C74FC8-6DFE-4074-929B-4C272FDE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7" name="rule"/>
          <p:cNvCxnSpPr/>
          <p:nvPr/>
        </p:nvCxnSpPr>
        <p:spPr>
          <a:xfrm xmlns:a="http://schemas.openxmlformats.org/drawingml/2006/main">
            <a:off x="1343025" y="2943225"/>
            <a:ext cx="32385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870703-8EB6-43EB-BDC1-220F4A9B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1.0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CD5FBFC-710A-4DBD-BBA8-BB0B7B7F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2.0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5F3EEE9E-DF27-40B0-965A-CD880255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D3953CE-CC29-4668-B43B-597E8E11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x = 1.65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EFB0CF-E4DF-436A-A232-3E45AF6C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RNE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C844E4-BE3D-4D18-A159-231ADB47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항상 2.0 → 같은 방향 오차가 반복될 수 있음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E57F778-DC36-4CDA-9C12-04B4D91C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SR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4327558-AE8F-4B49-947C-8478D27D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1.0으로 35%</a:t>
            </a:r>
          </a:p>
          <a:p xmlns:a="http://schemas.openxmlformats.org/drawingml/2006/main">
            <a:pPr algn="l">
              <a:defRPr sz="24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2.0으로 65%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5BADC3E-4ECE-4201-B48C-6222881A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342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여러 update의 평균에서는</a:t>
            </a:r>
          </a:p>
          <a:p xmlns:a="http://schemas.openxmlformats.org/drawingml/2006/main">
            <a:pPr algn="l">
              <a:defRPr sz="20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원래 값 1.65를 보존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DA8EF747-2C40-4581-B317-737215C3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34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51D6062-776C-419D-AD5A-9F2C2594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07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논문 결과: gradient에는 필수, weight·activation에 적용하면 오히려 추가 quantization noise로 악화</a:t>
            </a:r>
          </a:p>
        </p:txBody>
      </p:sp>
    </p:spTree>
    <p:extLst>
      <p:ext uri="{BB962C8B-B14F-4D97-AF65-F5344CB8AC3E}">
        <p14:creationId xmlns:p14="http://schemas.microsoft.com/office/powerpoint/2010/main" val="252008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5EB1C4-4F99-43A8-9F51-3D827DD5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정밀도와 rounding은 tensor 역할마다 다르게 배치됩니다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5B3720B-0DF8-47B3-8E98-DF72F8DF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METHODOLOGY</a:t>
            </a:r>
          </a:p>
        </p:txBody>
      </p:sp>
      <p:cxnSp>
        <p:nvCxnSpPr>
          <p:cNvPr id="9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705D038-7D96-49EE-8723-F89E9D6E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90550" y="1485900"/>
          <a:ext xmlns:a="http://schemas.openxmlformats.org/drawingml/2006/main" cx="110109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2952750"/>
                <a:gridCol w="2762250"/>
                <a:gridCol w="3200400"/>
              </a:tblGrid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GEMM input / 저장 정밀도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Rounding / scaling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95250" marR="95250" marT="66675" marB="66675">
                    <a:solidFill>
                      <a:srgbClr val="0A0A0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Weight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NVFP4 input; FP32 master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RNE + 16×16 2D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forward/backward consistency</a:t>
                      </a:r>
                    </a:p>
                  </a:txBody>
                  <a:tcPr marL="95250" marR="95250" marT="66675" marB="66675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Activation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NVFP4 input; BF16 흐름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RNE + 1×16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finer block로 accuracy</a:t>
                      </a:r>
                    </a:p>
                  </a:txBody>
                  <a:tcPr marL="95250" marR="95250" marT="66675" marB="66675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Gradient → Dgrad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NVFP4 input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 + 1×16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gradient bias 감소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Gradient → Wgrad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RHT 후 NVFP4 input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 + 1×16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outlier + bias 동시 완화</a:t>
                      </a:r>
                    </a:p>
                  </a:txBody>
                  <a:tcPr marL="95250" marR="95250" marT="66675" marB="66675">
                    <a:solidFill>
                      <a:srgbClr val="EAF6E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GEMM output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BF16 / FP32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없음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A0A0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accumulation 안정성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738FA8-F468-43C5-9F77-F7FCA14B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짧게 기억하기: W/A는 RNE, gradient는 SR, weight만 2D, Wgrad input만 RHT</a:t>
            </a:r>
          </a:p>
        </p:txBody>
      </p:sp>
    </p:spTree>
    <p:extLst>
      <p:ext uri="{BB962C8B-B14F-4D97-AF65-F5344CB8AC3E}">
        <p14:creationId xmlns:p14="http://schemas.microsoft.com/office/powerpoint/2010/main" val="5485141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63C184-44E2-41B4-8FED-18B3E323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하나씩 제거하면 12B training loss가 모두 나빠집니다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91191F6-FA21-4FA8-BA78-081D6E91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cxnSp>
        <p:nvCxnSpPr>
          <p:cNvPr id="12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EF4FDA-B3DA-49B1-919E-11BC7A49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07cb3e03f4af3"/>
          <a:stretch xmlns:a="http://schemas.openxmlformats.org/drawingml/2006/main"/>
        </p:blipFill>
        <p:spPr>
          <a:xfrm xmlns:a="http://schemas.openxmlformats.org/drawingml/2006/main">
            <a:off x="1002381" y="1409700"/>
            <a:ext cx="6691563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8D2B9F-F2FF-41EB-B277-D58E44F2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제거한 장치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7D513D6-9880-4E39-B849-112BA39D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stochastic rounding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Wgrad RHT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2D weight scaling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BF16 layer 수 축소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567450-A9FB-4466-B6FC-F79F3AC8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1CD8DB3-F4C9-4268-A90B-82916F5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각 장치는 서로 다른 오차를 막고, 10T horizon에서는 결합이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1978021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E6D555-4B12-40BB-A3F7-DF1D06AA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같은 recipe에서도 NVFP4가 MXFP4보다 token-efficient합니다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6614FA8-705B-41A6-8AC1-AD16D4E5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COMPARISON</a:t>
            </a:r>
          </a:p>
        </p:txBody>
      </p:sp>
      <p:cxnSp>
        <p:nvCxnSpPr>
          <p:cNvPr id="15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BE6FFE-A251-4123-9E39-8CE1A26C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f5de3247a42a2"/>
          <a:stretch xmlns:a="http://schemas.openxmlformats.org/drawingml/2006/main"/>
        </p:blipFill>
        <p:spPr>
          <a:xfrm xmlns:a="http://schemas.openxmlformats.org/drawingml/2006/main">
            <a:off x="419100" y="1950244"/>
            <a:ext cx="8096250" cy="2995613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DFD022-4B8D-4076-8CC9-C99D2800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1.5%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29320F-3F2C-467B-B412-5BD5AD0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NVFP4 relative loss error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C13391-08B4-4F3F-8795-EA0AEB6E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2.5%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2B079FD-969B-4C78-ABB2-4CEC4C28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MXFP4 relative loss error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3052D07-BFB4-4278-BD0C-678F10C8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rPr>
              <a:t>+36%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0A47B6F-D735-4BFA-BFF5-84DCA4F3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054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MXFP4가 같은 loss에</a:t>
            </a:r>
          </a:p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도달한 추가 token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DA19C0-BCD0-4DA0-B8C9-68357541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8B model · 1T-token 기준 비교</a:t>
            </a:r>
          </a:p>
        </p:txBody>
      </p:sp>
    </p:spTree>
    <p:extLst>
      <p:ext uri="{BB962C8B-B14F-4D97-AF65-F5344CB8AC3E}">
        <p14:creationId xmlns:p14="http://schemas.microsoft.com/office/powerpoint/2010/main" val="16522680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BB4A22-708A-4DDD-9D9F-986149A3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이 논문은 가능성을 보였지만 full-stack 효율은 아직 증명하지 않았습니다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320325F-0615-4E27-A367-A6BAF67C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CRITIQUE</a:t>
            </a:r>
          </a:p>
        </p:txBody>
      </p:sp>
      <p:cxnSp>
        <p:nvCxnSpPr>
          <p:cNvPr id="14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37F8A6-0A30-4719-BB3B-0FE5AB66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E8F630-970F-4EC9-952F-0683127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입증한 것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ECDBB0F5-3980-4E89-9C46-8E3C5DFF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4C7A623-AF13-4D96-A9BD-F5DE0E6F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4095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12B / 10T 장기 NVFP4 안정 학습</a:t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FP8에 가까운 loss·task accuracy</a:t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네 장치의 ablation 근거</a:t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NVFP4 &gt; MXFP4 token efficiency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096A8E-0B2A-44DE-8FD6-89E61952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남은 질문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8930BF0A-603A-43E1-940F-4A44FD15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4953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24F2BDA-4EFD-4FC3-9902-121C76F2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2862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end-to-end throughput / energy</a:t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attention·optimizer·communication FP4</a:t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더 큰 model·MoE로의 확장</a:t>
            </a:r>
          </a:p>
          <a:p xmlns:a="http://schemas.openxmlformats.org/drawingml/2006/main">
            <a:pPr algn="l">
              <a:def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high-precision layer 자동 선택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36D88EE-1184-40DA-87CE-ADE4EF5B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1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정확한 표현: ‘FP4 pretraining의 실용적 경로’이지 ‘모든 학습을 FP4로 끝냈다’가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6236641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3FAC79-15C6-4A54-960E-259ECF8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FP4 training은 ‘낮은 bit’보다 ‘오차의 위치’를 설계하는 문제입니다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6531C92-2491-4392-A80C-5527B0D0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TAKEAWAY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14DCD4-02E2-4929-AEA7-D9FC5D62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A2C81A-28C5-49CB-8857-D76479E6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FORMAT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FFC796-26EA-4ACD-9158-A7867DF7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811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16-value block + E4M3 scale + FP32 tensor scale</a:t>
            </a:r>
          </a:p>
        </p:txBody>
      </p:sp>
      <p:cxnSp>
        <p:nvCxnSpPr>
          <p:cNvPr id="21" name="rule"/>
          <p:cNvCxnSpPr/>
          <p:nvPr/>
        </p:nvCxnSpPr>
        <p:spPr>
          <a:xfrm xmlns:a="http://schemas.openxmlformats.org/drawingml/2006/main">
            <a:off x="685800" y="2533650"/>
            <a:ext cx="10363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8CF54B-8DB4-4B74-A42B-B52F1716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STABILITY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603D01-D455-462B-8A76-36310EB8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sensitive layer 보호 + Wgrad RHT + 2D weight scaling + gradient SR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685800" y="3790950"/>
            <a:ext cx="10363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FD964BD-526F-4F66-9BE0-957C2ECE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F0A43A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D761536-0629-4F3A-8F23-C26EAFEC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12B / 10T에서 FP8에 가까운 학습, 단 loss gap과 mixed precision은 남음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72A19BC-16B9-493F-A801-BF21CE17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6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29C210B-BE53-4727-8AAB-60E72EF5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문장 결론 · FP4가 학습을 가능하게 한 것이 아니라, 네 가지 보정이 FP4를 학습 가능하게 만들었습니다.</a:t>
            </a:r>
          </a:p>
        </p:txBody>
      </p:sp>
    </p:spTree>
    <p:extLst>
      <p:ext uri="{BB962C8B-B14F-4D97-AF65-F5344CB8AC3E}">
        <p14:creationId xmlns:p14="http://schemas.microsoft.com/office/powerpoint/2010/main" val="4970881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39C47F-4BC9-43E2-A835-D565D56B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부록 · 마지막 layer를 보호해야 했던 실험적 이유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55431F3-8E6C-4BDE-BA3F-2AA8BC51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cxnSp>
        <p:nvCxnSpPr>
          <p:cNvPr id="11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3E949B-37A0-453C-BE77-B9ECAAD3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eb86bbfbf49ba"/>
          <a:stretch xmlns:a="http://schemas.openxmlformats.org/drawingml/2006/main"/>
        </p:blipFill>
        <p:spPr>
          <a:xfrm xmlns:a="http://schemas.openxmlformats.org/drawingml/2006/main">
            <a:off x="1146271" y="1428750"/>
            <a:ext cx="6318059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AD9B17-C3E8-4485-B87F-16F16632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Figure 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C1E9B9-E6D4-46DB-8B7A-31A3B240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last 1 / last 2만 BF16: 불안정</a:t>
            </a:r>
          </a:p>
          <a:p xmlns:a="http://schemas.openxmlformats.org/drawingml/2006/main">
            <a:pPr algn="l">
              <a:defRPr sz="165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last 4 BF16: 안정적 수렴</a:t>
            </a:r>
          </a:p>
          <a:p xmlns:a="http://schemas.openxmlformats.org/drawingml/2006/main">
            <a:pPr algn="l">
              <a:defRPr sz="165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first 4만 BF16: 불안정</a:t>
            </a:r>
          </a:p>
          <a:p xmlns:a="http://schemas.openxmlformats.org/drawingml/2006/main">
            <a:pPr algn="l">
              <a:defRPr sz="165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• first 2 + last 2: 안정 가능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A442B2-40DE-4CAE-8AD4-4699FFE1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핵심은 ‘몇 개’뿐 아니라 ‘어디의 layer인가’입니다.</a:t>
            </a:r>
          </a:p>
        </p:txBody>
      </p:sp>
    </p:spTree>
    <p:extLst>
      <p:ext uri="{BB962C8B-B14F-4D97-AF65-F5344CB8AC3E}">
        <p14:creationId xmlns:p14="http://schemas.microsoft.com/office/powerpoint/2010/main" val="4114145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775CF0-FE1F-4B9F-A8A9-ECB6DCB1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부록 · SR과 RHT는 적용 위치가 성패를 가릅니다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1274C49-2982-4B32-8BD0-09BB1398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cxnSp>
        <p:nvCxnSpPr>
          <p:cNvPr id="13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0E8BA4-1F34-41D3-A042-5A12BBCC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4c9708ae046ca"/>
          <a:stretch xmlns:a="http://schemas.openxmlformats.org/drawingml/2006/main"/>
        </p:blipFill>
        <p:spPr>
          <a:xfrm xmlns:a="http://schemas.openxmlformats.org/drawingml/2006/main">
            <a:off x="514350" y="1401277"/>
            <a:ext cx="5286375" cy="3407746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8ab1bf4b44a22"/>
          <a:stretch xmlns:a="http://schemas.openxmlformats.org/drawingml/2006/main"/>
        </p:blipFill>
        <p:spPr>
          <a:xfrm xmlns:a="http://schemas.openxmlformats.org/drawingml/2006/main">
            <a:off x="6303681" y="1390650"/>
            <a:ext cx="5252013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D3ACA1-AB1E-4BF6-8920-730529FA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SR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F5E1FF-C1E5-4C1E-BB89-1FD6568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gradient는 안정 · weight/activation은 발산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AAB0493-E452-4E17-B71E-54958C6C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RHT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63124D-B947-46E6-B744-1C2EFE11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911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Wgrad는 개선 · Fprop/Dgrad는 악화</a:t>
            </a:r>
          </a:p>
        </p:txBody>
      </p:sp>
    </p:spTree>
    <p:extLst>
      <p:ext uri="{BB962C8B-B14F-4D97-AF65-F5344CB8AC3E}">
        <p14:creationId xmlns:p14="http://schemas.microsoft.com/office/powerpoint/2010/main" val="12429869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E7A3FE-3C20-4565-AD87-FA71F4DA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부록 · 16×16과 single fixed seed가 비용 대비 균형점입니다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0FF1FDA-963E-44E1-BA59-808BC785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cxnSp>
        <p:nvCxnSpPr>
          <p:cNvPr id="13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A97E25C-1156-4F37-81A2-5B858533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c9490b16b4e5c"/>
          <a:stretch xmlns:a="http://schemas.openxmlformats.org/drawingml/2006/main"/>
        </p:blipFill>
        <p:spPr>
          <a:xfrm xmlns:a="http://schemas.openxmlformats.org/drawingml/2006/main">
            <a:off x="531531" y="1390650"/>
            <a:ext cx="5252013" cy="3429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35a214e8d42ae"/>
          <a:stretch xmlns:a="http://schemas.openxmlformats.org/drawingml/2006/main"/>
        </p:blipFill>
        <p:spPr>
          <a:xfrm xmlns:a="http://schemas.openxmlformats.org/drawingml/2006/main">
            <a:off x="6336506" y="1390650"/>
            <a:ext cx="5186363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A45D0EA-B522-4F42-972E-33B530F7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528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Matrix size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4806FC-E3F3-47B7-80AA-019DAF32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4×4는 loss 악화 · 128×128은 소폭 이득 · 16×16 선택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3E8E2A-93F5-4047-A8ED-4C84A288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528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Randomization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0CA6CA-9DE7-431B-9484-21CFC92C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7210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random sign 없음은 악화 · 매번 새 seed 이득 없음</a:t>
            </a:r>
          </a:p>
        </p:txBody>
      </p:sp>
    </p:spTree>
    <p:extLst>
      <p:ext uri="{BB962C8B-B14F-4D97-AF65-F5344CB8AC3E}">
        <p14:creationId xmlns:p14="http://schemas.microsoft.com/office/powerpoint/2010/main" val="20302790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684080-7C93-40FC-9B5C-D70B8158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부록 · weight는 activation보다 표현 불일치에 민감합니다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0237949-197B-4B9D-9062-7B8C7EB9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cxnSp>
        <p:nvCxnSpPr>
          <p:cNvPr id="13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0EF7A32-E873-4DBC-BB68-1E5999FC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b9e2182634376"/>
          <a:stretch xmlns:a="http://schemas.openxmlformats.org/drawingml/2006/main"/>
        </p:blipFill>
        <p:spPr>
          <a:xfrm xmlns:a="http://schemas.openxmlformats.org/drawingml/2006/main">
            <a:off x="691440" y="1409700"/>
            <a:ext cx="6884820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82D80B-867C-4103-991F-19DF2E93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D94A4A"/>
                </a:solidFill>
                <a:latin typeface="Malgun Gothic"/>
                <a:ea typeface="Malgun Gothic"/>
                <a:cs typeface="Malgun Gothic"/>
              </a:rPr>
              <a:t>Weight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488DCD-24D8-493A-9EC4-9B0C042B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다른 dimension의 1×16 scale은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loss를 크게 악화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12C229-8844-489E-8AD5-7C18E768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Activation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F11632C-15E2-40BA-8DE2-8B225CE8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불일치에 덜 민감하고</a:t>
            </a:r>
          </a:p>
          <a:p xmlns:a="http://schemas.openxmlformats.org/drawingml/2006/main">
            <a:pPr algn="l">
              <a:def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주로 decay 후반에 영향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642995-8779-467A-A868-FF558BE5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그래서 weight만 16×16 2D scale, activation/gradient는 1×16을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4361135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D6E10F-3D8D-4237-8996-6C5B94ED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예상 질문 1-5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0794F32-D4F6-46B3-900E-9E7A648D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  <p:cxnSp>
        <p:nvCxnSpPr>
          <p:cNvPr id="26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FEAC73-4F9B-4226-B46E-FC80AF9E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67BCD2C-7452-492A-848C-6F8BB137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285D76-3718-4F43-B042-34366223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371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이 논문은 모든 연산을 FP4로 했나요?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D2FC2EB-0A95-417E-9BF3-307DAF7D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아니요. linear GEMM 입력 중심이며 attention·optimizer 등은 BF16/FP32입니다.</a:t>
            </a:r>
          </a:p>
        </p:txBody>
      </p:sp>
      <p:cxnSp>
        <p:nvCxnSpPr>
          <p:cNvPr id="31" name="rule"/>
          <p:cNvCxnSpPr/>
          <p:nvPr/>
        </p:nvCxnSpPr>
        <p:spPr>
          <a:xfrm xmlns:a="http://schemas.openxmlformats.org/drawingml/2006/main">
            <a:off x="1200150" y="2114550"/>
            <a:ext cx="102298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A808412-0DF9-4E8F-BB7D-3CBAEDA6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51594D4-2786-426E-967E-3DDED866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왜 FP4가 FP8보다 훨씬 어렵나요?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C3A04E0-0461-463F-8132-63DE4416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표현값과 dynamic range가 크게 줄어 outlier·underflow·rounding bias에 민감합니다.</a:t>
            </a:r>
          </a:p>
        </p:txBody>
      </p:sp>
      <p:cxnSp>
        <p:nvCxnSpPr>
          <p:cNvPr id="35" name="rule"/>
          <p:cNvCxnSpPr/>
          <p:nvPr/>
        </p:nvCxnSpPr>
        <p:spPr>
          <a:xfrm xmlns:a="http://schemas.openxmlformats.org/drawingml/2006/main">
            <a:off x="1200150" y="3086100"/>
            <a:ext cx="102298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81CD99A-8AF2-45B5-91EE-A2D049F0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25E1DF8-4609-4101-B3E0-F7A72128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two-level scaling과 2D scaling은 같은가요?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7BAE3D-90FB-49DA-BA8E-AD01D07B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아닙니다. 전자는 NVFP4 저장 형식, 후자는 weight consistency 방법입니다.</a:t>
            </a:r>
          </a:p>
        </p:txBody>
      </p:sp>
      <p:cxnSp>
        <p:nvCxnSpPr>
          <p:cNvPr id="39" name="rule"/>
          <p:cNvCxnSpPr/>
          <p:nvPr/>
        </p:nvCxnSpPr>
        <p:spPr>
          <a:xfrm xmlns:a="http://schemas.openxmlformats.org/drawingml/2006/main">
            <a:off x="1200150" y="4057650"/>
            <a:ext cx="102298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774FE4B-088A-471F-85C5-03C1FFAE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6C20EFE-66AE-4E41-9B87-C8ECD340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RHT는 왜 Wgrad에만 쓰나요?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50B9FF5-CE91-49A3-9F57-6BE26D73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862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Wgrad에서는 이득이 컸고 Fprop/Dgrad에서는 추가 quantization error가 더 컸습니다.</a:t>
            </a:r>
          </a:p>
        </p:txBody>
      </p:sp>
      <p:cxnSp>
        <p:nvCxnSpPr>
          <p:cNvPr id="43" name="rule"/>
          <p:cNvCxnSpPr/>
          <p:nvPr/>
        </p:nvCxnSpPr>
        <p:spPr>
          <a:xfrm xmlns:a="http://schemas.openxmlformats.org/drawingml/2006/main">
            <a:off x="1200150" y="5029200"/>
            <a:ext cx="102298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304FCCA-05DC-4E8A-BF52-978004EB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48A82E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3212F75-7815-47C6-B076-28D2A075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왜 마지막 layer가 더 민감한가요?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3C1409B-AC9B-435E-8467-47F5ED8A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5780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실험에서 마지막 layer의 Wgrad quantization error가 더 크게 관찰됐습니다.</a:t>
            </a:r>
          </a:p>
        </p:txBody>
      </p:sp>
    </p:spTree>
    <p:extLst>
      <p:ext uri="{BB962C8B-B14F-4D97-AF65-F5344CB8AC3E}">
        <p14:creationId xmlns:p14="http://schemas.microsoft.com/office/powerpoint/2010/main" val="138288603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1F1A48-1E82-448B-B087-42077D24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예상 질문 6-10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C47D223-1FC0-418A-AF37-9054DA0B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52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  <p:cxnSp>
        <p:nvCxnSpPr>
          <p:cNvPr id="26" name="rule"/>
          <p:cNvCxnSpPr/>
          <p:nvPr/>
        </p:nvCxnSpPr>
        <p:spPr>
          <a:xfrm xmlns:a="http://schemas.openxmlformats.org/drawingml/2006/main">
            <a:off x="400050" y="1066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A27F13-1272-42E5-B11E-2A500816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1F82F9-96B7-442E-AA38-9EC08E34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C2E1AA-C645-41C1-B1D7-A129B9C2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371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stochastic rounding은 어디에 쓰나요?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8173A02-9252-4DE7-BA8C-1DE629DA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gradient에만 씁니다. weight와 activation은 round-to-nearest-even입니다.</a:t>
            </a:r>
          </a:p>
        </p:txBody>
      </p:sp>
      <p:cxnSp>
        <p:nvCxnSpPr>
          <p:cNvPr id="31" name="rule"/>
          <p:cNvCxnSpPr/>
          <p:nvPr/>
        </p:nvCxnSpPr>
        <p:spPr>
          <a:xfrm xmlns:a="http://schemas.openxmlformats.org/drawingml/2006/main">
            <a:off x="1200150" y="2114550"/>
            <a:ext cx="102298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EA66B7-B791-45F6-AB59-6CD3EA42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9E6921-EC70-411B-9D8A-E891DDB4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평가도 NVFP4로 했나요?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FB2D88-C9AB-406F-A444-C7CE3213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아니요. Table 2 downstream evaluation은 BF16입니다.</a:t>
            </a:r>
          </a:p>
        </p:txBody>
      </p:sp>
      <p:cxnSp>
        <p:nvCxnSpPr>
          <p:cNvPr id="35" name="rule"/>
          <p:cNvCxnSpPr/>
          <p:nvPr/>
        </p:nvCxnSpPr>
        <p:spPr>
          <a:xfrm xmlns:a="http://schemas.openxmlformats.org/drawingml/2006/main">
            <a:off x="1200150" y="3086100"/>
            <a:ext cx="102298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B0205CE-917A-462D-8BEB-3BD33928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02D1508-A645-483E-B771-BD00F041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4×·6× 학습 속도가 나온 건가요?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28C71D8-6608-475D-BBB3-1309F22F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아니요. Tensor Core arithmetic rate이며 end-to-end speedup은 보고하지 않았습니다.</a:t>
            </a:r>
          </a:p>
        </p:txBody>
      </p:sp>
      <p:cxnSp>
        <p:nvCxnSpPr>
          <p:cNvPr id="39" name="rule"/>
          <p:cNvCxnSpPr/>
          <p:nvPr/>
        </p:nvCxnSpPr>
        <p:spPr>
          <a:xfrm xmlns:a="http://schemas.openxmlformats.org/drawingml/2006/main">
            <a:off x="1200150" y="4057650"/>
            <a:ext cx="102298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6879368-4ED5-464F-AEAB-7B427D45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DA4942-B49E-4755-99AA-264B65E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NVFP4가 MXFP4보다 나은 이유는?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763B33F-756E-4345-82E3-10EF165E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862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block 16과 E4M3 scale 덕분에 outlier·작은 값을 더 정확히 표현합니다.</a:t>
            </a:r>
          </a:p>
        </p:txBody>
      </p:sp>
      <p:cxnSp>
        <p:nvCxnSpPr>
          <p:cNvPr id="43" name="rule"/>
          <p:cNvCxnSpPr/>
          <p:nvPr/>
        </p:nvCxnSpPr>
        <p:spPr>
          <a:xfrm xmlns:a="http://schemas.openxmlformats.org/drawingml/2006/main">
            <a:off x="1200150" y="5029200"/>
            <a:ext cx="102298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AB67B6F-82FA-497F-9E35-22862024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466458D-7184-468F-9D10-0DBC9B9D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A0A0A"/>
                </a:solidFill>
                <a:latin typeface="Malgun Gothic"/>
                <a:ea typeface="Malgun Gothic"/>
                <a:cs typeface="Malgun Gothic"/>
              </a:rPr>
              <a:t>가장 큰 한계는 무엇인가요?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7E0F302-7051-492B-B0B4-BA10C5E2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5780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5E636B"/>
                </a:solidFill>
                <a:latin typeface="Malgun Gothic"/>
                <a:ea typeface="Malgun Gothic"/>
                <a:cs typeface="Malgun Gothic"/>
              </a:rPr>
              <a:t>full-stack FP4가 아니며 throughput·energy, 더 큰 model·MoE 일반화가 남았습니다.</a:t>
            </a:r>
          </a:p>
        </p:txBody>
      </p:sp>
    </p:spTree>
    <p:extLst>
      <p:ext uri="{BB962C8B-B14F-4D97-AF65-F5344CB8AC3E}">
        <p14:creationId xmlns:p14="http://schemas.microsoft.com/office/powerpoint/2010/main" val="1372551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2026-08-20T07:01:54.9450000Z</dcterms:created>
  <dcterms:modified xsi:type="dcterms:W3CDTF">2026-08-20T07:01:54.9450000Z</dcterms:modified>
</coreProperties>
</file>