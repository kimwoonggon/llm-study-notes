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jIZ0DImyl9Es+qtvXQ/xuIiC6e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ChartSnapshot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F80ED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26B5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BF16</c:v>
                </c:pt>
                <c:pt idx="1">
                  <c:v>GPTQ 3-bit</c:v>
                </c:pt>
                <c:pt idx="2">
                  <c:v>FlatQuant W4A4KV4</c:v>
                </c:pt>
                <c:pt idx="3">
                  <c:v>AWQ 3-bit</c:v>
                </c:pt>
              </c:strCache>
            </c:strRef>
          </c:cat>
          <c:val>
            <c:numRef>
              <c:f>'Chart Data'!$B$2:$B$5</c:f>
              <c:numCache>
                <c:formatCode>0'%'</c:formatCode>
                <c:ptCount val="4"/>
                <c:pt idx="0">
                  <c:v>85.6</c:v>
                </c:pt>
                <c:pt idx="1">
                  <c:v>71.6</c:v>
                </c:pt>
                <c:pt idx="2">
                  <c:v>66.4</c:v>
                </c:pt>
                <c:pt idx="3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5EF"/>
        </a:solidFill>
        <a:ln xmlns:a="http://schemas.openxmlformats.org/drawingml/2006/main" w="0">
          <a:solidFill>
            <a:srgbClr val="F7F5EF"/>
          </a:solidFill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solidFill>
        <a:srgbClr val="F7F5EF"/>
      </a:solidFill>
    </a:ln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CoT length (K)</c:v>
          </c:tx>
          <c:spPr>
            <a:solidFill xmlns:a="http://schemas.openxmlformats.org/drawingml/2006/main">
              <a:srgbClr val="45C7B0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26B5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BF16</c:v>
                </c:pt>
                <c:pt idx="1">
                  <c:v>GPTQ 3-bit</c:v>
                </c:pt>
                <c:pt idx="2">
                  <c:v>FlatQuant W4A4KV4</c:v>
                </c:pt>
                <c:pt idx="3">
                  <c:v>AWQ 3-bit</c:v>
                </c:pt>
              </c:strCache>
            </c:strRef>
          </c:cat>
          <c:val>
            <c:numRef>
              <c:f>'Chart Data'!$B$2:$B$5</c:f>
              <c:numCache>
                <c:formatCode>0.0'K'</c:formatCode>
                <c:ptCount val="4"/>
                <c:pt idx="0">
                  <c:v>5.2</c:v>
                </c:pt>
                <c:pt idx="1">
                  <c:v>6.8</c:v>
                </c:pt>
                <c:pt idx="2">
                  <c:v>8</c:v>
                </c:pt>
                <c:pt idx="3">
                  <c:v>23.4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</a:ln>
          </c:spPr>
        </c:majorGridlines>
        <c:numFmt formatCode="0.0'K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EF"/>
        </a:solidFill>
        <a:ln xmlns:a="http://schemas.openxmlformats.org/drawingml/2006/main" w="0">
          <a:solidFill>
            <a:srgbClr val="F7F5EF"/>
          </a:solidFill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solidFill>
        <a:srgbClr val="F7F5EF"/>
      </a:solidFill>
    </a:ln>
  </c:spPr>
  <c:externalData r:id="rIdChartSnapshot1">
    <c:autoUpdate val="0"/>
  </c:externalData>
</c:chartSpace>
</file>

<file path=ppt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오류 수</c:v>
          </c:tx>
          <c:spPr>
            <a:solidFill xmlns:a="http://schemas.openxmlformats.org/drawingml/2006/main">
              <a:srgbClr val="94A3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26B5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B84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80ED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Overthinking</c:v>
                </c:pt>
                <c:pt idx="1">
                  <c:v>논리</c:v>
                </c:pt>
                <c:pt idx="2">
                  <c:v>산술</c:v>
                </c:pt>
                <c:pt idx="3">
                  <c:v>형식·기타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19</c:v>
                </c:pt>
                <c:pt idx="1">
                  <c:v>39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5EF"/>
        </a:solidFill>
        <a:ln xmlns:a="http://schemas.openxmlformats.org/drawingml/2006/main" w="0">
          <a:solidFill>
            <a:srgbClr val="F7F5EF"/>
          </a:solidFill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solidFill>
        <a:srgbClr val="F7F5EF"/>
      </a:solidFill>
    </a:ln>
  </c:spPr>
  <c:externalData r:id="rIdChartSnapshot1">
    <c:autoUpdate val="0"/>
  </c:externalData>
</c:chartSpace>
</file>

<file path=ppt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F26B5E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22A559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기본</c:v>
                </c:pt>
                <c:pt idx="1">
                  <c:v>+ penalty</c:v>
                </c:pt>
              </c:strCache>
            </c:strRef>
          </c:cat>
          <c:val>
            <c:numRef>
              <c:f>'Chart Data'!$B$2:$B$3</c:f>
              <c:numCache>
                <c:formatCode>0'%'</c:formatCode>
                <c:ptCount val="2"/>
                <c:pt idx="0">
                  <c:v>47</c:v>
                </c:pt>
                <c:pt idx="1">
                  <c:v>61.2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D9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5EF"/>
        </a:solidFill>
      </c:spPr>
    </c:plotArea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CoT length</c:v>
          </c:tx>
          <c:spPr>
            <a:solidFill xmlns:a="http://schemas.openxmlformats.org/drawingml/2006/main">
              <a:srgbClr val="F26B5E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22A559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기본</c:v>
                </c:pt>
                <c:pt idx="1">
                  <c:v>+ penalty</c:v>
                </c:pt>
              </c:strCache>
            </c:strRef>
          </c:cat>
          <c:val>
            <c:numRef>
              <c:f>'Chart Data'!$B$2:$B$3</c:f>
              <c:numCache>
                <c:formatCode>0.0'K'</c:formatCode>
                <c:ptCount val="2"/>
                <c:pt idx="0">
                  <c:v>23.4</c:v>
                </c:pt>
                <c:pt idx="1">
                  <c:v>12.9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</a:ln>
          </c:spPr>
        </c:majorGridlines>
        <c:numFmt formatCode="0.0'K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D98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EF"/>
        </a:solidFill>
      </c:spPr>
    </c:plotArea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발표 목표: 양자화가 추론 모델의 정확도뿐 아니라 ‘멈추는 능력’까지 바꿀 수 있다는 점을 이해한다.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학생들에게 먼저 20초 정도 생각할 시간을 준다. 이 문제는 논문 Figure 1의 MATH-500 예시다.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정답 자체보다 ‘정답을 찾은 다음 멈추는가’에 초점을 옮긴다. Figure 1의 질적 예시를 소개한다.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세 숫자는 초록색으로 강조한다. 모두 논문 초록의 대표 결과다.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양자화의 목적은 실용적이다. 이 논문은 압축 후 정확도 하나만 볼 때 놓치는 행동 변화를 다룬다.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CoT는 외부에 보이는 텍스트일 수도 있고 모델 내부 추론 형식일 수도 있다. 이 연구는 생성된 추론 토큰 길이를 측정한다.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핵심은 길이 자체가 아니라 추가 토큰이 유용한가이다. 관련 연구에서도 길이와 정답률의 관계는 비단조적이라고 알려져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자와 눈금 비유를 사용한다. 눈금이 촘촘하면 정밀하지만 저장 비용이 크고, 거칠면 값이 가까운 눈금으로 이동한다.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PTQ는 gradient update가 필요 없고 학습 파이프라인 접근도 요구하지 않는다는 실용성이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GPTQ와 AWQ는 group size 128의 weight-only quantization, FlatQuant는 weight·activation·KV cache를 함께 양자화한다.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발표 전체는 이 세 질문에 차례로 답한다.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모델은 1.5B부터 32B, 과제는 수학·코딩·과학이다. 논문은 28개의 모델-양자화 쌍으로 상관을 계산한다.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작은 모델에서 변화가 가장 두드러졌지만, 큰 모델에서도 CoT 감소 효과가 관찰됐다.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W4A4KV4와 W8A8KV8는 FlatQuant 설정이다. GPTQ/AWQ는 weight-only로 3·4비트를 사용한다.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서로 다른 난이도와 도메인에서 같은 현상이 반복되는지 확인했다.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344" name="Google Shape;34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동일 prefix 비교는 양자화 자체가 출력 분포에 준 변화를 분리하기 위한 장치다.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375" name="Google Shape;37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‘압축하면 모델이 약해져서 덜 생각할 것’이라는 직관과 반대다. Figure 2의 핵심 관찰이다.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01" name="Google Shape;40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BF16 85.6%, GPTQ 3-bit 71.6%, FlatQuant W4A4KV4 66.4%, AWQ 3-bit 47.0%. 논문 Figure 2와 Table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23" name="Google Shape;42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정확도가 가장 많이 떨어진 설정이 가장 길게 추론했다. GPTQ 3-bit는 6.8K, FlatQuant W4A4KV4는 8.0K.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35" name="Google Shape;43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Figure 2. LiveCodeBench에서 AWQ 3-bit는 정확도 17.5%→4.5%, CoT 19.1K→38.8K. 작은 모델과 어려운 벤치마크에서 효과가 두드러졌다.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47" name="Google Shape;44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Spearman은 순위 기반 상관이다. 음수는 accuracy degradation과 CoT increase가 반대 방향으로 강하게 연결됨을 뜻한다.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60" name="Google Shape;46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각 실패는 정확히 하나의 범주로 분류했다. Overthinking은 ‘정답을 한 번이라도 찾았는가’를 핵심 기준으로 삼는다.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479" name="Google Shape;47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Section 4.2와 Appendix D. 자동 분류가 완벽하다고 가정하지 않고 인간 표본과의 일치도를 보고했다.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502" name="Google Shape;50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BF16 오류 수: overthinking 19, logical 39, arithmetic 7, format/other 7. 저자 공식 블로그의 Figure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528" name="Google Shape;52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왼쪽은 penalty 전, 오른쪽은 penalty 후다. AWQ 3-bit 총 오류 265개 중 overthinking 139개. penalty 후 58개로 감소.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541" name="Google Shape;541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블로그의 qualitative example을 요약했다. 숫자는 평균 MATH-500 CoT 길이이며 하나의 개별 trace 길이로 오해하지 않게 설명한다.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553" name="Google Shape;55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모델이 서로 다른 문장을 생성한 뒤 비교하면 문맥 차이가 섞인다. 동일 prefix는 비교를 더 통제한다.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589" name="Google Shape;58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0" name="Google Shape;61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KL은 대칭 거리가 아니다. 이 연구는 BF16 분포 p를 기준으로 양자화 분포 q와 비교한다.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11" name="Google Shape;61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9" name="Google Shape;629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Figure 4a,b. 각 토큰은 최소 50번 나타난 경우만 포함한다. 높은 KL 예: Wait, But, Alternatively, maybe, verify. 낮은 KL 예: 숫자·수식·종료/형식 토큰.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30" name="Google Shape;630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entropy는 불확실성의 척도다. high entropy position은 top logit margin이 작아 양자화 perturbation에 더 취약하다.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45" name="Google Shape;64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Figure 4c. 강한 양의 상관은 원래부터 애매한 위치에서 BF16과 AWQ 3-bit 분포가 가장 크게 벌어짐을 뜻한다.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74" name="Google Shape;67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Section 6과 Figure 7. 이는 제안된 메커니즘을 지지하지만 모든 PTQ 성능 저하를 설명하는 완전한 인과 이론은 아니다.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686" name="Google Shape;686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추가 관찰: high-KL/low-KL token density ratio가 BF16의 0.57에서 AWQ 3-bit의 1.15로 뒤집혔다.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705" name="Google Shape;70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5" name="Google Shape;73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S는 hesitation, self-doubt, redirection을 표현하는 50개 토큰 목록이다. 논문 Equation 1과 Appendix Table 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736" name="Google Shape;73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전체 목록은 논문 Appendix Table 8. leading space를 포함한 tokenizer token 단위로 구현했다.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757" name="Google Shape;757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Qwen-1.5B, 6개 quantization 설정, 5개 benchmark 평균. λ는 0.5–4.0. random tokens는 거의 효과가 없었다. 논문 Figure 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776" name="Google Shape;776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9" name="Google Shape;799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Figure 5c와 Figure 9. marker의 방향성을 반대로 조작한 실험이 reasoning length를 실제로 제어한다는 근거를 보탠다.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800" name="Google Shape;800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7" name="Google Shape;817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Qwen-1.5B, MATH-500. Accuracy 47.0→61.2, CoT 23.4K→12.9K. 논문 Figure 1·Table 1, 저자 블로그 Figure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818" name="Google Shape;818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5" name="Google Shape;835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논문 Section 7. 저자들은 entropy에 따라 λ를 동적으로 조정하고 marker를 자동 구성하는 방향을 제안한다.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836" name="Google Shape;836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마지막 2분은 토론 질문에 사용한다. 해결책을 만능으로 제시하지 말고 도메인·언어·decoding 설정의 범위를 강조한다.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출처: Lotfi, Kirichenko, Li, Liu (2026), arXiv:2606.00206. https://arxiv.org/abs/2606.00206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저자 공식 설명·그림: https://sanaelotfi.github.io/blog/quantized-reasoning-models/</a:t>
            </a:r>
            <a:endParaRPr/>
          </a:p>
        </p:txBody>
      </p:sp>
      <p:sp>
        <p:nvSpPr>
          <p:cNvPr id="867" name="Google Shape;867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714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600" y="514350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PAPER EXPLAINER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09600" y="1123950"/>
            <a:ext cx="47625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5"/>
              <a:buFont typeface="Arial"/>
              <a:buNone/>
            </a:pPr>
            <a:r>
              <a:rPr b="1" lang="en-US" sz="36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양자화된 추론 모델은 더 오래 생각해야 한다고 믿지만, 실제로는 그렇지 않다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9600" y="3600450"/>
            <a:ext cx="4572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7C9D8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B7C9D8"/>
                </a:solidFill>
                <a:latin typeface="Arial"/>
                <a:ea typeface="Arial"/>
                <a:cs typeface="Arial"/>
                <a:sym typeface="Arial"/>
              </a:rPr>
              <a:t>Quantized Reasoning Models Think They Need to Think Longer, but They Do Not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09600" y="46672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학생을 위한 논문 해설 · 40장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09600" y="520065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2EC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Sanae Lotfi · Polina Kirichenko · Steven Li · Zechun Liu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2EC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FAIR at Meta · Meta AI · arXiv:2606.00206 · 2026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09600" y="636270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A8BC"/>
              </a:buClr>
              <a:buSzPts val="925"/>
              <a:buFont typeface="Arial"/>
              <a:buNone/>
            </a:pPr>
            <a:r>
              <a:rPr b="0" lang="en-US" sz="926">
                <a:solidFill>
                  <a:srgbClr val="8FA8BC"/>
                </a:solidFill>
                <a:latin typeface="Arial"/>
                <a:ea typeface="Arial"/>
                <a:cs typeface="Arial"/>
                <a:sym typeface="Arial"/>
              </a:rPr>
              <a:t>01 / 40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도입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첫 문제: 가장 큰 8자리 이진수는?</a:t>
            </a:r>
            <a:endParaRPr/>
          </a:p>
        </p:txBody>
      </p:sp>
      <p:cxnSp>
        <p:nvCxnSpPr>
          <p:cNvPr id="31" name="Google Shape;31;p2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가장 큰 8자리 base-2 정수를 base-10으로 바꾸세요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81100" y="2333625"/>
            <a:ext cx="9829800" cy="2476500"/>
          </a:xfrm>
          <a:prstGeom prst="roundRect">
            <a:avLst>
              <a:gd fmla="val 11538" name="adj"/>
            </a:avLst>
          </a:prstGeom>
          <a:solidFill>
            <a:srgbClr val="091525"/>
          </a:solidFill>
          <a:ln cap="flat" cmpd="sng" w="9525">
            <a:solidFill>
              <a:srgbClr val="09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809750" y="2819400"/>
            <a:ext cx="857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lang="en-US" sz="5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11111111₂ = ?₁₀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714750" y="40195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생각할 시간 20초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095500" y="53149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362200" y="5219700"/>
            <a:ext cx="7734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8자리 모두 1이면 가장 큽니다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095500" y="57721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362200" y="5676900"/>
            <a:ext cx="7734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계산은 잠시 뒤에 공개합니다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도입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정답은 255</a:t>
            </a:r>
            <a:endParaRPr/>
          </a:p>
        </p:txBody>
      </p:sp>
      <p:cxnSp>
        <p:nvCxnSpPr>
          <p:cNvPr id="49" name="Google Shape;49;p3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11111111₂ = 2⁸ - 1 = 255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81050" y="2457450"/>
            <a:ext cx="2952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11111111₂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924300" y="2457450"/>
            <a:ext cx="5715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686300" y="2457450"/>
            <a:ext cx="23812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2⁸ − 1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239000" y="2457450"/>
            <a:ext cx="5715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001000" y="2362200"/>
            <a:ext cx="3143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5850"/>
              <a:buFont typeface="Arial"/>
              <a:buNone/>
            </a:pPr>
            <a:r>
              <a:rPr b="1" lang="en-US" sz="585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255</a:t>
            </a:r>
            <a:endParaRPr/>
          </a:p>
        </p:txBody>
      </p:sp>
      <p:cxnSp>
        <p:nvCxnSpPr>
          <p:cNvPr id="58" name="Google Shape;58;p3"/>
          <p:cNvCxnSpPr/>
          <p:nvPr/>
        </p:nvCxnSpPr>
        <p:spPr>
          <a:xfrm>
            <a:off x="1143000" y="3676650"/>
            <a:ext cx="99060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1619250" y="42672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885950" y="4171950"/>
            <a:ext cx="8686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정답을 찾는 데 긴 추론이 필요하지 않습니다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619250" y="49149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885950" y="4819650"/>
            <a:ext cx="8686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문제는 모델이 255를 찾은 뒤에도 계속 의심했다는 점입니다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도입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논문의 핵심 한 문장</a:t>
            </a:r>
            <a:endParaRPr/>
          </a:p>
        </p:txBody>
      </p:sp>
      <p:cxnSp>
        <p:nvCxnSpPr>
          <p:cNvPr id="70" name="Google Shape;70;p4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강한 양자화는 모델이 정답을 찾지 못하게만 하는 것이 아니라, 찾은 정답을 버리고 계속 생각하게 만든다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14400" y="2247900"/>
            <a:ext cx="10363200" cy="895350"/>
          </a:xfrm>
          <a:prstGeom prst="roundRect">
            <a:avLst>
              <a:gd fmla="val 21277" name="adj"/>
            </a:avLst>
          </a:prstGeom>
          <a:solidFill>
            <a:srgbClr val="091525"/>
          </a:solidFill>
          <a:ln cap="flat" cmpd="sng" w="9525">
            <a:solidFill>
              <a:srgbClr val="09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238250" y="2400300"/>
            <a:ext cx="9715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85"/>
              <a:buFont typeface="Arial"/>
              <a:buNone/>
            </a:pPr>
            <a:r>
              <a:rPr b="1" lang="en-US" sz="188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강한 양자화는 모델이 정답을 찾지 못하게만 하는 것이 아니라, 찾은 정답을 버리고 계속 생각하게 만든다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09600" y="37528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최대 52%</a:t>
            </a:r>
            <a:endParaRPr/>
          </a:p>
        </p:txBody>
      </p:sp>
      <p:cxnSp>
        <p:nvCxnSpPr>
          <p:cNvPr id="77" name="Google Shape;77;p4"/>
          <p:cNvCxnSpPr/>
          <p:nvPr/>
        </p:nvCxnSpPr>
        <p:spPr>
          <a:xfrm>
            <a:off x="838200" y="46482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4"/>
          <p:cNvSpPr/>
          <p:nvPr/>
        </p:nvSpPr>
        <p:spPr>
          <a:xfrm>
            <a:off x="704850" y="4781550"/>
            <a:ext cx="32259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양자화 모델 실패 중 overthinking</a:t>
            </a:r>
            <a:endParaRPr b="0" sz="1575">
              <a:solidFill>
                <a:srgbClr val="627D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627D98"/>
                </a:solidFill>
              </a:rPr>
              <a:t>CoT에서는 이미 정답을 한 번 찾았는데, 이후 계속 생각하다가 최종 답을 틀리게 낸 경우가 최대 52% </a:t>
            </a:r>
            <a:endParaRPr sz="1575">
              <a:solidFill>
                <a:srgbClr val="627D98"/>
              </a:solidFill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387850" y="37528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12–23%</a:t>
            </a:r>
            <a:endParaRPr/>
          </a:p>
        </p:txBody>
      </p:sp>
      <p:cxnSp>
        <p:nvCxnSpPr>
          <p:cNvPr id="80" name="Google Shape;80;p4"/>
          <p:cNvCxnSpPr/>
          <p:nvPr/>
        </p:nvCxnSpPr>
        <p:spPr>
          <a:xfrm>
            <a:off x="4616450" y="46482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4"/>
          <p:cNvSpPr/>
          <p:nvPr/>
        </p:nvSpPr>
        <p:spPr>
          <a:xfrm>
            <a:off x="4483100" y="4781550"/>
            <a:ext cx="32259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penalty 적용 후 CoT 감소</a:t>
            </a:r>
            <a:endParaRPr b="0" sz="1575">
              <a:solidFill>
                <a:srgbClr val="627D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627D98"/>
                </a:solidFill>
              </a:rPr>
              <a:t>(logit penalty </a:t>
            </a:r>
            <a:endParaRPr sz="1575">
              <a:solidFill>
                <a:srgbClr val="627D98"/>
              </a:solidFill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627D98"/>
                </a:solidFill>
              </a:rPr>
              <a:t>wait,but 이런 데에)</a:t>
            </a:r>
            <a:endParaRPr sz="1575">
              <a:solidFill>
                <a:srgbClr val="627D98"/>
              </a:solidFill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166100" y="37528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최대 58%</a:t>
            </a:r>
            <a:endParaRPr/>
          </a:p>
        </p:txBody>
      </p:sp>
      <p:cxnSp>
        <p:nvCxnSpPr>
          <p:cNvPr id="83" name="Google Shape;83;p4"/>
          <p:cNvCxnSpPr/>
          <p:nvPr/>
        </p:nvCxnSpPr>
        <p:spPr>
          <a:xfrm>
            <a:off x="8394700" y="46482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4"/>
          <p:cNvSpPr/>
          <p:nvPr/>
        </p:nvSpPr>
        <p:spPr>
          <a:xfrm>
            <a:off x="8261350" y="4781550"/>
            <a:ext cx="32259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overthinking 오류 감소</a:t>
            </a:r>
            <a:endParaRPr b="0" sz="1575">
              <a:solidFill>
                <a:srgbClr val="627D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627D98"/>
                </a:solidFill>
              </a:rPr>
              <a:t>정답을 찾고도 계속 생각하다 틀리는 overthinking error’ 자체가 최대 58% 감소했다 </a:t>
            </a:r>
            <a:endParaRPr sz="1575">
              <a:solidFill>
                <a:srgbClr val="627D9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왜 양자화를 쓰는가</a:t>
            </a:r>
            <a:endParaRPr/>
          </a:p>
        </p:txBody>
      </p:sp>
      <p:cxnSp>
        <p:nvCxnSpPr>
          <p:cNvPr id="92" name="Google Shape;92;p5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큰 모델을 더 적은 메모리와 비용으로 실행하기 위해 숫자의 정밀도를 줄인다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19150" y="2400300"/>
            <a:ext cx="3905250" cy="2476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143000" y="268605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475"/>
              <a:buFont typeface="Arial"/>
              <a:buNone/>
            </a:pPr>
            <a:r>
              <a:rPr b="1" lang="en-US" sz="2475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16-bit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143000" y="3333750"/>
            <a:ext cx="2857500" cy="514350"/>
          </a:xfrm>
          <a:prstGeom prst="rect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143000" y="4095750"/>
            <a:ext cx="171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475"/>
              <a:buFont typeface="Arial"/>
              <a:buNone/>
            </a:pPr>
            <a:r>
              <a:rPr b="1" lang="en-US" sz="247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3-bit</a:t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143000" y="4743450"/>
            <a:ext cx="781050" cy="514350"/>
          </a:xfrm>
          <a:prstGeom prst="rect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2381250" y="4629150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더 적은 메모리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715000" y="25908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981700" y="24955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배포 비용과 메모리 사용을 줄일 수 있음</a:t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715000" y="33528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981700" y="32575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PTQ는 재학습 없이 적용 가능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715000" y="41148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981700" y="40195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그러나 추론 과정의 행동 변화는 덜 연구됨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추론 모델이 답을 만드는 과정</a:t>
            </a:r>
            <a:endParaRPr/>
          </a:p>
        </p:txBody>
      </p:sp>
      <p:cxnSp>
        <p:nvCxnSpPr>
          <p:cNvPr id="115" name="Google Shape;115;p6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질문을 받은 뒤 중간 추론을 생성하고 최종 답을 출력한다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62000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76300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14400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문제 입력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481388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595688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633788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중간 추론 CoT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200775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315075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353175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검산·수정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920163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E6F7EC"/>
          </a:solidFill>
          <a:ln cap="flat" cmpd="sng" w="190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9034463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9072563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최종 답</a:t>
            </a:r>
            <a:endParaRPr/>
          </a:p>
        </p:txBody>
      </p:sp>
      <p:cxnSp>
        <p:nvCxnSpPr>
          <p:cNvPr id="131" name="Google Shape;131;p6"/>
          <p:cNvCxnSpPr>
            <a:stCxn id="119" idx="3"/>
            <a:endCxn id="122" idx="1"/>
          </p:cNvCxnSpPr>
          <p:nvPr/>
        </p:nvCxnSpPr>
        <p:spPr>
          <a:xfrm>
            <a:off x="3271838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132" name="Google Shape;132;p6"/>
          <p:cNvCxnSpPr>
            <a:stCxn id="122" idx="3"/>
            <a:endCxn id="125" idx="1"/>
          </p:cNvCxnSpPr>
          <p:nvPr/>
        </p:nvCxnSpPr>
        <p:spPr>
          <a:xfrm>
            <a:off x="5991226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133" name="Google Shape;133;p6"/>
          <p:cNvCxnSpPr>
            <a:stCxn id="125" idx="3"/>
            <a:endCxn id="128" idx="1"/>
          </p:cNvCxnSpPr>
          <p:nvPr/>
        </p:nvCxnSpPr>
        <p:spPr>
          <a:xfrm>
            <a:off x="8710613" y="3676650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Chain-of-Thought의 장점과 위험</a:t>
            </a:r>
            <a:endParaRPr/>
          </a:p>
        </p:txBody>
      </p:sp>
      <p:cxnSp>
        <p:nvCxnSpPr>
          <p:cNvPr id="141" name="Google Shape;141;p7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7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생각을 더 쓰면 복잡한 문제를 풀 수 있지만, 언제나 정확해지는 것은 아니다</a:t>
            </a:r>
            <a:endParaRPr/>
          </a:p>
        </p:txBody>
      </p:sp>
      <p:cxnSp>
        <p:nvCxnSpPr>
          <p:cNvPr id="145" name="Google Shape;145;p7"/>
          <p:cNvCxnSpPr/>
          <p:nvPr/>
        </p:nvCxnSpPr>
        <p:spPr>
          <a:xfrm>
            <a:off x="609600" y="247650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609600" y="26860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도움이 되는 경우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09600" y="34671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876300" y="33718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여러 단계를 연결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09600" y="40767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76300" y="39814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중간 계산을 확인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09600" y="46863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876300" y="45910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잘못된 경로를 수정</a:t>
            </a:r>
            <a:endParaRPr/>
          </a:p>
        </p:txBody>
      </p:sp>
      <p:cxnSp>
        <p:nvCxnSpPr>
          <p:cNvPr id="153" name="Google Shape;153;p7"/>
          <p:cNvCxnSpPr/>
          <p:nvPr/>
        </p:nvCxnSpPr>
        <p:spPr>
          <a:xfrm>
            <a:off x="6305550" y="247650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6305550" y="268605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해가 되는 경우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305550" y="34671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572250" y="33718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이미 맞은 답을 의심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305550" y="40767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572250" y="39814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같은 검산을 반복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305550" y="46863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572250" y="459105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문맥 한도까지 계속 생성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양자화란 무엇인가</a:t>
            </a:r>
            <a:endParaRPr/>
          </a:p>
        </p:txBody>
      </p:sp>
      <p:cxnSp>
        <p:nvCxnSpPr>
          <p:cNvPr id="168" name="Google Shape;168;p8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8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연속적인 값을 더 적은 수의 단계로 근사하는 압축 방법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57250" y="25527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0839450" y="25527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74" name="Google Shape;174;p8"/>
          <p:cNvCxnSpPr/>
          <p:nvPr/>
        </p:nvCxnSpPr>
        <p:spPr>
          <a:xfrm>
            <a:off x="1143000" y="2838450"/>
            <a:ext cx="9620250" cy="9525"/>
          </a:xfrm>
          <a:prstGeom prst="straightConnector1">
            <a:avLst/>
          </a:prstGeom>
          <a:noFill/>
          <a:ln cap="flat" cmpd="sng" w="381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8"/>
          <p:cNvCxnSpPr/>
          <p:nvPr/>
        </p:nvCxnSpPr>
        <p:spPr>
          <a:xfrm>
            <a:off x="1143000" y="2705100"/>
            <a:ext cx="9525" cy="32385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8"/>
          <p:cNvCxnSpPr/>
          <p:nvPr/>
        </p:nvCxnSpPr>
        <p:spPr>
          <a:xfrm>
            <a:off x="2105025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8"/>
          <p:cNvCxnSpPr/>
          <p:nvPr/>
        </p:nvCxnSpPr>
        <p:spPr>
          <a:xfrm>
            <a:off x="3067050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8"/>
          <p:cNvCxnSpPr/>
          <p:nvPr/>
        </p:nvCxnSpPr>
        <p:spPr>
          <a:xfrm>
            <a:off x="4029075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8"/>
          <p:cNvCxnSpPr/>
          <p:nvPr/>
        </p:nvCxnSpPr>
        <p:spPr>
          <a:xfrm>
            <a:off x="4991100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8"/>
          <p:cNvCxnSpPr/>
          <p:nvPr/>
        </p:nvCxnSpPr>
        <p:spPr>
          <a:xfrm>
            <a:off x="5953125" y="2705100"/>
            <a:ext cx="9525" cy="32385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8"/>
          <p:cNvCxnSpPr/>
          <p:nvPr/>
        </p:nvCxnSpPr>
        <p:spPr>
          <a:xfrm>
            <a:off x="6915150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8"/>
          <p:cNvCxnSpPr/>
          <p:nvPr/>
        </p:nvCxnSpPr>
        <p:spPr>
          <a:xfrm>
            <a:off x="7877175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8"/>
          <p:cNvCxnSpPr/>
          <p:nvPr/>
        </p:nvCxnSpPr>
        <p:spPr>
          <a:xfrm>
            <a:off x="8839200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8"/>
          <p:cNvCxnSpPr/>
          <p:nvPr/>
        </p:nvCxnSpPr>
        <p:spPr>
          <a:xfrm>
            <a:off x="9801225" y="2743200"/>
            <a:ext cx="9525" cy="22860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8"/>
          <p:cNvCxnSpPr/>
          <p:nvPr/>
        </p:nvCxnSpPr>
        <p:spPr>
          <a:xfrm>
            <a:off x="10763250" y="2705100"/>
            <a:ext cx="9525" cy="323850"/>
          </a:xfrm>
          <a:prstGeom prst="straightConnector1">
            <a:avLst/>
          </a:prstGeom>
          <a:noFill/>
          <a:ln cap="flat" cmpd="sng" w="1905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8020050" y="2714625"/>
            <a:ext cx="247650" cy="24765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543800" y="3171825"/>
            <a:ext cx="133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실제 값 0.73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258175" y="2733675"/>
            <a:ext cx="209550" cy="20955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039100" y="3581400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저장값 0.75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476375" y="43815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743075" y="4286250"/>
            <a:ext cx="89725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원래 값 0.73을 가까운 대표값 0.75로 저장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476375" y="4905375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743075" y="4810125"/>
            <a:ext cx="89725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각 숫자의 오차는 작아 보여도 모델 전체에는 많은 오차가 쌓임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476375" y="54292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743075" y="5334000"/>
            <a:ext cx="89725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저장 공간은 줄지만 출력 확률이 조금씩 바뀔 수 있음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Post-Training Quantization</a:t>
            </a:r>
            <a:endParaRPr/>
          </a:p>
        </p:txBody>
      </p:sp>
      <p:cxnSp>
        <p:nvCxnSpPr>
          <p:cNvPr id="203" name="Google Shape;203;p9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9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09600" y="1409700"/>
            <a:ext cx="10972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학습이 끝난 모델을 작은 calibration 데이터로 </a:t>
            </a:r>
            <a:r>
              <a:rPr lang="en-US" sz="1950">
                <a:solidFill>
                  <a:srgbClr val="102A43"/>
                </a:solidFill>
              </a:rPr>
              <a:t>적정 scale을 찾아 quantization 한다.</a:t>
            </a:r>
            <a:endParaRPr sz="195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AWQ -&gt; calibration </a:t>
            </a:r>
            <a:endParaRPr sz="1950">
              <a:solidFill>
                <a:srgbClr val="102A43"/>
              </a:solidFill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62000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76300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14400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학습 완료 모델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481388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595688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633788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calibration 데이터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200775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315075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353175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스케일·정수값 결정</a:t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920163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E6F7EC"/>
          </a:solidFill>
          <a:ln cap="flat" cmpd="sng" w="190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9034463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9072563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양자화 모델 배포</a:t>
            </a:r>
            <a:endParaRPr/>
          </a:p>
        </p:txBody>
      </p:sp>
      <p:cxnSp>
        <p:nvCxnSpPr>
          <p:cNvPr id="219" name="Google Shape;219;p9"/>
          <p:cNvCxnSpPr>
            <a:stCxn id="207" idx="3"/>
            <a:endCxn id="210" idx="1"/>
          </p:cNvCxnSpPr>
          <p:nvPr/>
        </p:nvCxnSpPr>
        <p:spPr>
          <a:xfrm>
            <a:off x="3271838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20" name="Google Shape;220;p9"/>
          <p:cNvCxnSpPr>
            <a:stCxn id="210" idx="3"/>
            <a:endCxn id="213" idx="1"/>
          </p:cNvCxnSpPr>
          <p:nvPr/>
        </p:nvCxnSpPr>
        <p:spPr>
          <a:xfrm>
            <a:off x="5991226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21" name="Google Shape;221;p9"/>
          <p:cNvCxnSpPr>
            <a:stCxn id="213" idx="3"/>
            <a:endCxn id="216" idx="1"/>
          </p:cNvCxnSpPr>
          <p:nvPr/>
        </p:nvCxnSpPr>
        <p:spPr>
          <a:xfrm>
            <a:off x="8710613" y="3676650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논문이 비교한 세 가지 PTQ 방법</a:t>
            </a:r>
            <a:endParaRPr/>
          </a:p>
        </p:txBody>
      </p:sp>
      <p:cxnSp>
        <p:nvCxnSpPr>
          <p:cNvPr id="229" name="Google Shape;229;p10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같은 비트 수라도 어떤 값을 보호하고 어떻게 변환하느냐가 다르다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09600" y="2266950"/>
            <a:ext cx="152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방법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286000" y="2266950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양자화 대상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476750" y="226695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핵심 아이디어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8667750" y="2266950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/>
          </a:p>
        </p:txBody>
      </p:sp>
      <p:cxnSp>
        <p:nvCxnSpPr>
          <p:cNvPr id="237" name="Google Shape;237;p10"/>
          <p:cNvCxnSpPr/>
          <p:nvPr/>
        </p:nvCxnSpPr>
        <p:spPr>
          <a:xfrm>
            <a:off x="609600" y="26670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0"/>
          <p:cNvSpPr/>
          <p:nvPr/>
        </p:nvSpPr>
        <p:spPr>
          <a:xfrm>
            <a:off x="609600" y="2781300"/>
            <a:ext cx="152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GPTQ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2286000" y="2781300"/>
            <a:ext cx="2000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가중치 중심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4476750" y="2781300"/>
            <a:ext cx="400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2차 정보로 layer별 오차 보정</a:t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667750" y="278130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3·4-bit</a:t>
            </a:r>
            <a:endParaRPr/>
          </a:p>
        </p:txBody>
      </p:sp>
      <p:cxnSp>
        <p:nvCxnSpPr>
          <p:cNvPr id="242" name="Google Shape;242;p10"/>
          <p:cNvCxnSpPr/>
          <p:nvPr/>
        </p:nvCxnSpPr>
        <p:spPr>
          <a:xfrm>
            <a:off x="609600" y="367665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0"/>
          <p:cNvSpPr/>
          <p:nvPr/>
        </p:nvSpPr>
        <p:spPr>
          <a:xfrm>
            <a:off x="609600" y="3790950"/>
            <a:ext cx="152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AWQ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2286000" y="3790950"/>
            <a:ext cx="2000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가중치 중심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476750" y="3790950"/>
            <a:ext cx="400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중요 activation channel 보호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8667750" y="379095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3·4-bit</a:t>
            </a:r>
            <a:endParaRPr/>
          </a:p>
        </p:txBody>
      </p:sp>
      <p:cxnSp>
        <p:nvCxnSpPr>
          <p:cNvPr id="247" name="Google Shape;247;p10"/>
          <p:cNvCxnSpPr/>
          <p:nvPr/>
        </p:nvCxnSpPr>
        <p:spPr>
          <a:xfrm>
            <a:off x="609600" y="4686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0"/>
          <p:cNvSpPr/>
          <p:nvPr/>
        </p:nvSpPr>
        <p:spPr>
          <a:xfrm>
            <a:off x="609600" y="4800600"/>
            <a:ext cx="152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FlatQuant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2286000" y="4800600"/>
            <a:ext cx="2000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W·A·KV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476750" y="4800600"/>
            <a:ext cx="400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회전·스케일로 분포를 평탄화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8667750" y="480060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W4A4KV4 / W8A8KV8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연구 질문</a:t>
            </a:r>
            <a:endParaRPr/>
          </a:p>
        </p:txBody>
      </p:sp>
      <p:cxnSp>
        <p:nvCxnSpPr>
          <p:cNvPr id="259" name="Google Shape;259;p11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1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정확도 하락 뒤에서 실제로 어떤 추론 행동이 바뀌는가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00100" y="2324100"/>
            <a:ext cx="876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962150" y="2324100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양자화가 정확도와 CoT 길이를 어떻게 바꾸는가?</a:t>
            </a:r>
            <a:endParaRPr/>
          </a:p>
        </p:txBody>
      </p:sp>
      <p:cxnSp>
        <p:nvCxnSpPr>
          <p:cNvPr id="265" name="Google Shape;265;p11"/>
          <p:cNvCxnSpPr/>
          <p:nvPr/>
        </p:nvCxnSpPr>
        <p:spPr>
          <a:xfrm>
            <a:off x="1962150" y="3257550"/>
            <a:ext cx="885825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1"/>
          <p:cNvSpPr/>
          <p:nvPr/>
        </p:nvSpPr>
        <p:spPr>
          <a:xfrm>
            <a:off x="800100" y="3543300"/>
            <a:ext cx="876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962150" y="3543300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틀린 답은 능력 부족인가, 정답을 찾고도 버린 것인가?</a:t>
            </a:r>
            <a:endParaRPr/>
          </a:p>
        </p:txBody>
      </p:sp>
      <p:cxnSp>
        <p:nvCxnSpPr>
          <p:cNvPr id="268" name="Google Shape;268;p11"/>
          <p:cNvCxnSpPr/>
          <p:nvPr/>
        </p:nvCxnSpPr>
        <p:spPr>
          <a:xfrm>
            <a:off x="1962150" y="4476750"/>
            <a:ext cx="885825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1"/>
          <p:cNvSpPr/>
          <p:nvPr/>
        </p:nvSpPr>
        <p:spPr>
          <a:xfrm>
            <a:off x="800100" y="4762500"/>
            <a:ext cx="876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962150" y="4762500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원인을 겨냥한 간단한 추론 시점 개입으로 줄일 수 있는가?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실험 규모</a:t>
            </a:r>
            <a:endParaRPr/>
          </a:p>
        </p:txBody>
      </p:sp>
      <p:cxnSp>
        <p:nvCxnSpPr>
          <p:cNvPr id="278" name="Google Shape;278;p12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2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모델 크기, 양자화 방식, 문제 영역을 넓게 교차 비교했다</a:t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09600" y="27241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83" name="Google Shape;283;p12"/>
          <p:cNvCxnSpPr/>
          <p:nvPr/>
        </p:nvCxnSpPr>
        <p:spPr>
          <a:xfrm>
            <a:off x="838200" y="36195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2"/>
          <p:cNvSpPr/>
          <p:nvPr/>
        </p:nvSpPr>
        <p:spPr>
          <a:xfrm>
            <a:off x="704850" y="37528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추론 모델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387850" y="27241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286" name="Google Shape;286;p12"/>
          <p:cNvCxnSpPr/>
          <p:nvPr/>
        </p:nvCxnSpPr>
        <p:spPr>
          <a:xfrm>
            <a:off x="4616450" y="36195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2"/>
          <p:cNvSpPr/>
          <p:nvPr/>
        </p:nvSpPr>
        <p:spPr>
          <a:xfrm>
            <a:off x="4483100" y="37528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PTQ 계열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8166100" y="27241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89" name="Google Shape;289;p12"/>
          <p:cNvCxnSpPr/>
          <p:nvPr/>
        </p:nvCxnSpPr>
        <p:spPr>
          <a:xfrm>
            <a:off x="8394700" y="36195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2"/>
          <p:cNvSpPr/>
          <p:nvPr/>
        </p:nvSpPr>
        <p:spPr>
          <a:xfrm>
            <a:off x="8261350" y="37528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벤치마크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1143000" y="51625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1.5B–32B 모델 크기 · 수학·코딩·과학 · 28 model–quantization pairs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평가 모델: 1.5B부터 32B까지</a:t>
            </a:r>
            <a:endParaRPr/>
          </a:p>
        </p:txBody>
      </p:sp>
      <p:cxnSp>
        <p:nvCxnSpPr>
          <p:cNvPr id="299" name="Google Shape;299;p13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3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작은 distilled model과 더 큰 reasoning model을 함께 평가</a:t>
            </a:r>
            <a:endParaRPr/>
          </a:p>
        </p:txBody>
      </p:sp>
      <p:cxnSp>
        <p:nvCxnSpPr>
          <p:cNvPr id="303" name="Google Shape;303;p13"/>
          <p:cNvCxnSpPr/>
          <p:nvPr/>
        </p:nvCxnSpPr>
        <p:spPr>
          <a:xfrm>
            <a:off x="1466850" y="2428875"/>
            <a:ext cx="9525" cy="3048000"/>
          </a:xfrm>
          <a:prstGeom prst="straightConnector1">
            <a:avLst/>
          </a:prstGeom>
          <a:noFill/>
          <a:ln cap="flat" cmpd="sng" w="476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3"/>
          <p:cNvSpPr/>
          <p:nvPr/>
        </p:nvSpPr>
        <p:spPr>
          <a:xfrm>
            <a:off x="1276350" y="2495550"/>
            <a:ext cx="381000" cy="381000"/>
          </a:xfrm>
          <a:prstGeom prst="ellipse">
            <a:avLst/>
          </a:prstGeom>
          <a:solidFill>
            <a:srgbClr val="2F80E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1981200" y="24003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1.5B</a:t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429000" y="24003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DeepSeek-R1-Distill-Qwen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1276350" y="3219450"/>
            <a:ext cx="381000" cy="381000"/>
          </a:xfrm>
          <a:prstGeom prst="ellipse">
            <a:avLst/>
          </a:prstGeom>
          <a:solidFill>
            <a:srgbClr val="2F80ED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1981200" y="31242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7B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3429000" y="31242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DeepSeek-R1-Distill-Qwen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1276350" y="3943350"/>
            <a:ext cx="381000" cy="381000"/>
          </a:xfrm>
          <a:prstGeom prst="ellipse">
            <a:avLst/>
          </a:prstGeom>
          <a:solidFill>
            <a:srgbClr val="45C7B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1981200" y="38481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8B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3429000" y="38481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DeepSeek-R1-Distill-Llama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1276350" y="4667250"/>
            <a:ext cx="381000" cy="381000"/>
          </a:xfrm>
          <a:prstGeom prst="ellipse">
            <a:avLst/>
          </a:prstGeom>
          <a:solidFill>
            <a:srgbClr val="45C7B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1981200" y="45720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2775"/>
              <a:buFont typeface="Arial"/>
              <a:buNone/>
            </a:pPr>
            <a:r>
              <a:rPr b="1" lang="en-US" sz="27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14B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3429000" y="45720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DeepSeek-R1-Distill-Qwen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1276350" y="5391150"/>
            <a:ext cx="381000" cy="381000"/>
          </a:xfrm>
          <a:prstGeom prst="ellipse">
            <a:avLst/>
          </a:prstGeom>
          <a:solidFill>
            <a:srgbClr val="F26B5E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1981200" y="5295900"/>
            <a:ext cx="133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32B</a:t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429000" y="52959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QwQ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양자화 표기 읽기</a:t>
            </a:r>
            <a:endParaRPr/>
          </a:p>
        </p:txBody>
      </p:sp>
      <p:cxnSp>
        <p:nvCxnSpPr>
          <p:cNvPr id="326" name="Google Shape;326;p14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4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WbAcKVd는 가중치·activation·KV cache의 비트 수를 뜻한다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1047750" y="2362200"/>
            <a:ext cx="10096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4950"/>
              <a:buFont typeface="Arial"/>
              <a:buNone/>
            </a:pPr>
            <a:r>
              <a:rPr b="1" lang="en-US" sz="49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W 4 A 4 KV 4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609600" y="35242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cxnSp>
        <p:nvCxnSpPr>
          <p:cNvPr id="332" name="Google Shape;332;p14"/>
          <p:cNvCxnSpPr/>
          <p:nvPr/>
        </p:nvCxnSpPr>
        <p:spPr>
          <a:xfrm>
            <a:off x="838200" y="4419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4"/>
          <p:cNvSpPr/>
          <p:nvPr/>
        </p:nvSpPr>
        <p:spPr>
          <a:xfrm>
            <a:off x="704850" y="4552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4387850" y="35242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335" name="Google Shape;335;p14"/>
          <p:cNvCxnSpPr/>
          <p:nvPr/>
        </p:nvCxnSpPr>
        <p:spPr>
          <a:xfrm>
            <a:off x="4616450" y="4419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4"/>
          <p:cNvSpPr/>
          <p:nvPr/>
        </p:nvSpPr>
        <p:spPr>
          <a:xfrm>
            <a:off x="4483100" y="4552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Activations</a:t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8166100" y="35242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KV</a:t>
            </a:r>
            <a:endParaRPr/>
          </a:p>
        </p:txBody>
      </p:sp>
      <p:cxnSp>
        <p:nvCxnSpPr>
          <p:cNvPr id="338" name="Google Shape;338;p14"/>
          <p:cNvCxnSpPr/>
          <p:nvPr/>
        </p:nvCxnSpPr>
        <p:spPr>
          <a:xfrm>
            <a:off x="8394700" y="4419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4"/>
          <p:cNvSpPr/>
          <p:nvPr/>
        </p:nvSpPr>
        <p:spPr>
          <a:xfrm>
            <a:off x="8261350" y="4552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Key–Value cache</a:t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1143000" y="5524500"/>
            <a:ext cx="990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W4A4KV4: 세 요소를 모두 4비트   ·   AWQ W3: 가중치를 3비트로 압축   ·   BF16: 비교 기준인 full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다섯 개 벤치마크</a:t>
            </a:r>
            <a:endParaRPr/>
          </a:p>
        </p:txBody>
      </p:sp>
      <p:cxnSp>
        <p:nvCxnSpPr>
          <p:cNvPr id="348" name="Google Shape;348;p15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5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짧은 산술부터 어려운 수학, 과학, 코드 생성까지</a:t>
            </a:r>
            <a:endParaRPr/>
          </a:p>
        </p:txBody>
      </p:sp>
      <p:cxnSp>
        <p:nvCxnSpPr>
          <p:cNvPr id="352" name="Google Shape;352;p15"/>
          <p:cNvCxnSpPr/>
          <p:nvPr/>
        </p:nvCxnSpPr>
        <p:spPr>
          <a:xfrm>
            <a:off x="609600" y="247650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5"/>
          <p:cNvSpPr/>
          <p:nvPr/>
        </p:nvSpPr>
        <p:spPr>
          <a:xfrm>
            <a:off x="609600" y="268605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수학</a:t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09600" y="346710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876300" y="33718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GSM8K · 짧은 산술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09600" y="401955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876300" y="39243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MATH-500 · 다단계 문제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609600" y="457200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876300" y="44767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AIME-120 · 매우 어려운 수학</a:t>
            </a:r>
            <a:endParaRPr/>
          </a:p>
        </p:txBody>
      </p:sp>
      <p:cxnSp>
        <p:nvCxnSpPr>
          <p:cNvPr id="360" name="Google Shape;360;p15"/>
          <p:cNvCxnSpPr/>
          <p:nvPr/>
        </p:nvCxnSpPr>
        <p:spPr>
          <a:xfrm>
            <a:off x="4406900" y="247650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5"/>
          <p:cNvSpPr/>
          <p:nvPr/>
        </p:nvSpPr>
        <p:spPr>
          <a:xfrm>
            <a:off x="4406900" y="268605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과학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4406900" y="34671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4673600" y="33718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GPQA-Diamond</a:t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4406900" y="40195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4673600" y="39243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대학원 수준 과학 QA</a:t>
            </a:r>
            <a:endParaRPr/>
          </a:p>
        </p:txBody>
      </p:sp>
      <p:cxnSp>
        <p:nvCxnSpPr>
          <p:cNvPr id="366" name="Google Shape;366;p15"/>
          <p:cNvCxnSpPr/>
          <p:nvPr/>
        </p:nvCxnSpPr>
        <p:spPr>
          <a:xfrm>
            <a:off x="8204200" y="247650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5"/>
          <p:cNvSpPr/>
          <p:nvPr/>
        </p:nvSpPr>
        <p:spPr>
          <a:xfrm>
            <a:off x="8204200" y="268605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84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코딩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8204200" y="346710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8470900" y="33718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LiveCodeBench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204200" y="40195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470900" y="39243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오염을 줄인 코드 평가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연구 설계</a:t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생성·평가 설정</a:t>
            </a:r>
            <a:endParaRPr/>
          </a:p>
        </p:txBody>
      </p:sp>
      <p:cxnSp>
        <p:nvCxnSpPr>
          <p:cNvPr id="379" name="Google Shape;379;p16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6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모든 모델에 동일한 sampling 설정을 적용</a:t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09600" y="2524125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0.6</a:t>
            </a:r>
            <a:endParaRPr/>
          </a:p>
        </p:txBody>
      </p:sp>
      <p:cxnSp>
        <p:nvCxnSpPr>
          <p:cNvPr id="384" name="Google Shape;384;p16"/>
          <p:cNvCxnSpPr/>
          <p:nvPr/>
        </p:nvCxnSpPr>
        <p:spPr>
          <a:xfrm>
            <a:off x="838200" y="3419475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6"/>
          <p:cNvSpPr/>
          <p:nvPr/>
        </p:nvSpPr>
        <p:spPr>
          <a:xfrm>
            <a:off x="704850" y="3552825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4387850" y="2524125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0.95</a:t>
            </a:r>
            <a:endParaRPr/>
          </a:p>
        </p:txBody>
      </p:sp>
      <p:cxnSp>
        <p:nvCxnSpPr>
          <p:cNvPr id="387" name="Google Shape;387;p16"/>
          <p:cNvCxnSpPr/>
          <p:nvPr/>
        </p:nvCxnSpPr>
        <p:spPr>
          <a:xfrm>
            <a:off x="4616450" y="3419475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6"/>
          <p:cNvSpPr/>
          <p:nvPr/>
        </p:nvSpPr>
        <p:spPr>
          <a:xfrm>
            <a:off x="4483100" y="3552825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top-p</a:t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8166100" y="2524125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CoT</a:t>
            </a:r>
            <a:endParaRPr/>
          </a:p>
        </p:txBody>
      </p:sp>
      <p:cxnSp>
        <p:nvCxnSpPr>
          <p:cNvPr id="390" name="Google Shape;390;p16"/>
          <p:cNvCxnSpPr/>
          <p:nvPr/>
        </p:nvCxnSpPr>
        <p:spPr>
          <a:xfrm>
            <a:off x="8394700" y="3419475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6"/>
          <p:cNvSpPr/>
          <p:nvPr/>
        </p:nvSpPr>
        <p:spPr>
          <a:xfrm>
            <a:off x="8261350" y="3552825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평균 생성 토큰 수</a:t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1809750" y="49339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2076450" y="48387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정확도와 평균 CoT 길이를 함께 측정</a:t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1809750" y="54102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2076450" y="531495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오류 유형 분석은 Qwen-1.5B의 MATH-500 중심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1809750" y="58864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2076450" y="57912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KL 분석은 동일한 prefix에서 BF16과 AWQ 3-bit 비교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7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결과</a:t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결과 1: 정확도는 내려가고 생각 길이는 늘었다</a:t>
            </a:r>
            <a:endParaRPr/>
          </a:p>
        </p:txBody>
      </p:sp>
      <p:cxnSp>
        <p:nvCxnSpPr>
          <p:cNvPr id="405" name="Google Shape;405;p17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7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강한 양자화일수록 낮은 성능과 긴 CoT가 동시에 나타났다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609600" y="27622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정확도 ↓</a:t>
            </a:r>
            <a:endParaRPr/>
          </a:p>
        </p:txBody>
      </p:sp>
      <p:cxnSp>
        <p:nvCxnSpPr>
          <p:cNvPr id="410" name="Google Shape;410;p17"/>
          <p:cNvCxnSpPr/>
          <p:nvPr/>
        </p:nvCxnSpPr>
        <p:spPr>
          <a:xfrm>
            <a:off x="838200" y="3657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7"/>
          <p:cNvSpPr/>
          <p:nvPr/>
        </p:nvSpPr>
        <p:spPr>
          <a:xfrm>
            <a:off x="704850" y="3790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문제를 덜 맞힘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4616450" y="2805113"/>
            <a:ext cx="3416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CoT 길이 ↑</a:t>
            </a:r>
            <a:endParaRPr/>
          </a:p>
        </p:txBody>
      </p:sp>
      <p:cxnSp>
        <p:nvCxnSpPr>
          <p:cNvPr id="413" name="Google Shape;413;p17"/>
          <p:cNvCxnSpPr/>
          <p:nvPr/>
        </p:nvCxnSpPr>
        <p:spPr>
          <a:xfrm>
            <a:off x="4616450" y="3657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7"/>
          <p:cNvSpPr/>
          <p:nvPr/>
        </p:nvSpPr>
        <p:spPr>
          <a:xfrm>
            <a:off x="4483100" y="3790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더 많은 토큰 생성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8166100" y="2762250"/>
            <a:ext cx="341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비용 ↑</a:t>
            </a:r>
            <a:endParaRPr/>
          </a:p>
        </p:txBody>
      </p:sp>
      <p:cxnSp>
        <p:nvCxnSpPr>
          <p:cNvPr id="416" name="Google Shape;416;p17"/>
          <p:cNvCxnSpPr/>
          <p:nvPr/>
        </p:nvCxnSpPr>
        <p:spPr>
          <a:xfrm>
            <a:off x="8394700" y="3657600"/>
            <a:ext cx="2959100" cy="9525"/>
          </a:xfrm>
          <a:prstGeom prst="straightConnector1">
            <a:avLst/>
          </a:prstGeom>
          <a:noFill/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7"/>
          <p:cNvSpPr/>
          <p:nvPr/>
        </p:nvSpPr>
        <p:spPr>
          <a:xfrm>
            <a:off x="8261350" y="3790950"/>
            <a:ext cx="3225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느리고 비싼 추론</a:t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1809750" y="5162550"/>
            <a:ext cx="8572500" cy="571500"/>
          </a:xfrm>
          <a:prstGeom prst="roundRect">
            <a:avLst>
              <a:gd fmla="val 23333" name="adj"/>
            </a:avLst>
          </a:prstGeom>
          <a:solidFill>
            <a:srgbClr val="FDE9E6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2000250" y="5267325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압축으로 추론 비용이 줄어들 것이라는 기대와 반대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결과</a:t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MATH-500 정확도</a:t>
            </a:r>
            <a:endParaRPr/>
          </a:p>
        </p:txBody>
      </p:sp>
      <p:cxnSp>
        <p:nvCxnSpPr>
          <p:cNvPr id="427" name="Google Shape;427;p18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8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Qwen-1.5B에서 3-bit AWQ가 가장 크게 하락</a:t>
            </a:r>
            <a:endParaRPr/>
          </a:p>
        </p:txBody>
      </p:sp>
      <p:graphicFrame>
        <p:nvGraphicFramePr>
          <p:cNvPr id="431" name="Google Shape;431;p18"/>
          <p:cNvGraphicFramePr/>
          <p:nvPr/>
        </p:nvGraphicFramePr>
        <p:xfrm>
          <a:off x="1047750" y="2171700"/>
          <a:ext cx="10096500" cy="371475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결과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MATH-500 CoT 길이</a:t>
            </a:r>
            <a:endParaRPr/>
          </a:p>
        </p:txBody>
      </p:sp>
      <p:cxnSp>
        <p:nvCxnSpPr>
          <p:cNvPr id="439" name="Google Shape;439;p19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9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AWQ 3-bit는 5.2K에서 23.4K 토큰으로 4.5배 증가</a:t>
            </a:r>
            <a:endParaRPr/>
          </a:p>
        </p:txBody>
      </p:sp>
      <p:graphicFrame>
        <p:nvGraphicFramePr>
          <p:cNvPr id="443" name="Google Shape;443;p19"/>
          <p:cNvGraphicFramePr/>
          <p:nvPr/>
        </p:nvGraphicFramePr>
        <p:xfrm>
          <a:off x="1047750" y="2171700"/>
          <a:ext cx="10096500" cy="371475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결과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수학·과학·코딩에서 같은 방향</a:t>
            </a:r>
            <a:endParaRPr/>
          </a:p>
        </p:txBody>
      </p:sp>
      <p:cxnSp>
        <p:nvCxnSpPr>
          <p:cNvPr id="451" name="Google Shape;451;p20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0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54" name="Google Shape;454;p20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공격적 양자화가 세 영역에서 정확도와 효율을 함께 악화시켰다</a:t>
            </a:r>
            <a:endParaRPr/>
          </a:p>
        </p:txBody>
      </p:sp>
      <p:pic>
        <p:nvPicPr>
          <p:cNvPr id="455" name="Google Shape;4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2271" y="2095500"/>
            <a:ext cx="8027458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0"/>
          <p:cNvSpPr/>
          <p:nvPr/>
        </p:nvSpPr>
        <p:spPr>
          <a:xfrm>
            <a:off x="9715500" y="59817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75"/>
              <a:buFont typeface="Arial"/>
              <a:buNone/>
            </a:pPr>
            <a:r>
              <a:rPr b="0" lang="en-US" sz="975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원문 Figure 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결과</a:t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정확도 하락과 CoT 증가는 강하게 연결됐다</a:t>
            </a:r>
            <a:endParaRPr/>
          </a:p>
        </p:txBody>
      </p:sp>
      <p:cxnSp>
        <p:nvCxnSpPr>
          <p:cNvPr id="464" name="Google Shape;464;p21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1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28개 모델–양자화 쌍의 Spearman ρ = -0.73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762000" y="247650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6900"/>
              <a:buFont typeface="Arial"/>
              <a:buNone/>
            </a:pPr>
            <a:r>
              <a:rPr b="1" lang="en-US" sz="69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ρ = −0.73</a:t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1333500" y="4038600"/>
            <a:ext cx="381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강한 음의 순위 상관</a:t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6191250" y="24765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6457950" y="2381250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정확도가 많이 떨어진 설정일수록 CoT가 더 길어짐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6191250" y="33528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6457950" y="3257550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추가 추론이 단순한 부산물이 아닐 가능성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6191250" y="42291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6457950" y="4133850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상관관계만으로 완전한 인과를 증명하지는 않음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오류 분석</a:t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오류를 네 종류로 분류</a:t>
            </a:r>
            <a:endParaRPr/>
          </a:p>
        </p:txBody>
      </p:sp>
      <p:cxnSp>
        <p:nvCxnSpPr>
          <p:cNvPr id="483" name="Google Shape;483;p22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22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틀렸다는 결과만 보지 않고 어디서 잘못됐는지 구분</a:t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723900" y="219075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Overthinking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3333750" y="2190750"/>
            <a:ext cx="7715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중간에 정답을 찾았지만 최종 답으로 확정하지 않음</a:t>
            </a:r>
            <a:endParaRPr/>
          </a:p>
        </p:txBody>
      </p:sp>
      <p:cxnSp>
        <p:nvCxnSpPr>
          <p:cNvPr id="489" name="Google Shape;489;p22"/>
          <p:cNvCxnSpPr/>
          <p:nvPr/>
        </p:nvCxnSpPr>
        <p:spPr>
          <a:xfrm>
            <a:off x="723900" y="2952750"/>
            <a:ext cx="103251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22"/>
          <p:cNvSpPr/>
          <p:nvPr/>
        </p:nvSpPr>
        <p:spPr>
          <a:xfrm>
            <a:off x="723900" y="316230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84B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논리 오류</a:t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3333750" y="3162300"/>
            <a:ext cx="7715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초반 계획이나 문제 이해가 잘못됨</a:t>
            </a:r>
            <a:endParaRPr/>
          </a:p>
        </p:txBody>
      </p:sp>
      <p:cxnSp>
        <p:nvCxnSpPr>
          <p:cNvPr id="492" name="Google Shape;492;p22"/>
          <p:cNvCxnSpPr/>
          <p:nvPr/>
        </p:nvCxnSpPr>
        <p:spPr>
          <a:xfrm>
            <a:off x="723900" y="3924300"/>
            <a:ext cx="103251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22"/>
          <p:cNvSpPr/>
          <p:nvPr/>
        </p:nvSpPr>
        <p:spPr>
          <a:xfrm>
            <a:off x="723900" y="413385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산술 오류</a:t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3333750" y="4133850"/>
            <a:ext cx="7715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접근은 맞지만 계산에서 실수</a:t>
            </a:r>
            <a:endParaRPr/>
          </a:p>
        </p:txBody>
      </p:sp>
      <p:cxnSp>
        <p:nvCxnSpPr>
          <p:cNvPr id="495" name="Google Shape;495;p22"/>
          <p:cNvCxnSpPr/>
          <p:nvPr/>
        </p:nvCxnSpPr>
        <p:spPr>
          <a:xfrm>
            <a:off x="723900" y="4895850"/>
            <a:ext cx="103251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22"/>
          <p:cNvSpPr/>
          <p:nvPr/>
        </p:nvSpPr>
        <p:spPr>
          <a:xfrm>
            <a:off x="723900" y="510540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형식·환각·기타</a:t>
            </a:r>
            <a:endParaRPr/>
          </a:p>
        </p:txBody>
      </p:sp>
      <p:sp>
        <p:nvSpPr>
          <p:cNvPr id="497" name="Google Shape;497;p22"/>
          <p:cNvSpPr/>
          <p:nvPr/>
        </p:nvSpPr>
        <p:spPr>
          <a:xfrm>
            <a:off x="3333750" y="5105400"/>
            <a:ext cx="7715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형식 위반, 없는 조건 추가, 기타 실패</a:t>
            </a:r>
            <a:endParaRPr/>
          </a:p>
        </p:txBody>
      </p:sp>
      <p:cxnSp>
        <p:nvCxnSpPr>
          <p:cNvPr id="498" name="Google Shape;498;p22"/>
          <p:cNvCxnSpPr/>
          <p:nvPr/>
        </p:nvCxnSpPr>
        <p:spPr>
          <a:xfrm>
            <a:off x="723900" y="5867400"/>
            <a:ext cx="103251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오류 분석</a:t>
            </a:r>
            <a:endParaRPr/>
          </a:p>
        </p:txBody>
      </p:sp>
      <p:sp>
        <p:nvSpPr>
          <p:cNvPr id="505" name="Google Shape;505;p23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오류 분류 절차</a:t>
            </a:r>
            <a:endParaRPr/>
          </a:p>
        </p:txBody>
      </p:sp>
      <p:cxnSp>
        <p:nvCxnSpPr>
          <p:cNvPr id="506" name="Google Shape;506;p23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23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사람의 표본 판정으로 프롬프트를 조정한 뒤 GPT-5 judge로 확장</a:t>
            </a:r>
            <a:endParaRPr b="0" sz="1950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데이터 검수 -&gt; 클로드코드</a:t>
            </a:r>
            <a:endParaRPr sz="195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생성형 요약 -&gt; judge prompt 전체검수 (저품질,고품질)</a:t>
            </a:r>
            <a:endParaRPr sz="1950">
              <a:solidFill>
                <a:srgbClr val="102A43"/>
              </a:solidFill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762000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3"/>
          <p:cNvSpPr/>
          <p:nvPr/>
        </p:nvSpPr>
        <p:spPr>
          <a:xfrm>
            <a:off x="876300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914400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일부 오류 수작업 분류</a:t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3481388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3595688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3633788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judge prompt 조정</a:t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6200775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"/>
          <p:cNvSpPr/>
          <p:nvPr/>
        </p:nvSpPr>
        <p:spPr>
          <a:xfrm>
            <a:off x="6315075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18" name="Google Shape;518;p23"/>
          <p:cNvSpPr/>
          <p:nvPr/>
        </p:nvSpPr>
        <p:spPr>
          <a:xfrm>
            <a:off x="6353175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사람과 95% 이상 일치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8920163" y="3143250"/>
            <a:ext cx="2509838" cy="1066800"/>
          </a:xfrm>
          <a:prstGeom prst="roundRect">
            <a:avLst>
              <a:gd fmla="val 16071" name="adj"/>
            </a:avLst>
          </a:prstGeom>
          <a:solidFill>
            <a:srgbClr val="E6F7EC"/>
          </a:solidFill>
          <a:ln cap="flat" cmpd="sng" w="190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9034463" y="32766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9072563" y="3571875"/>
            <a:ext cx="22050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전체 오류 자동 분류</a:t>
            </a:r>
            <a:endParaRPr/>
          </a:p>
        </p:txBody>
      </p:sp>
      <p:cxnSp>
        <p:nvCxnSpPr>
          <p:cNvPr id="522" name="Google Shape;522;p23"/>
          <p:cNvCxnSpPr>
            <a:stCxn id="510" idx="3"/>
            <a:endCxn id="513" idx="1"/>
          </p:cNvCxnSpPr>
          <p:nvPr/>
        </p:nvCxnSpPr>
        <p:spPr>
          <a:xfrm>
            <a:off x="3271838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523" name="Google Shape;523;p23"/>
          <p:cNvCxnSpPr>
            <a:stCxn id="513" idx="3"/>
            <a:endCxn id="516" idx="1"/>
          </p:cNvCxnSpPr>
          <p:nvPr/>
        </p:nvCxnSpPr>
        <p:spPr>
          <a:xfrm>
            <a:off x="5991226" y="3676650"/>
            <a:ext cx="2094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524" name="Google Shape;524;p23"/>
          <p:cNvCxnSpPr>
            <a:stCxn id="516" idx="3"/>
            <a:endCxn id="519" idx="1"/>
          </p:cNvCxnSpPr>
          <p:nvPr/>
        </p:nvCxnSpPr>
        <p:spPr>
          <a:xfrm>
            <a:off x="8710613" y="3676650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4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오류 분석</a:t>
            </a:r>
            <a:endParaRPr/>
          </a:p>
        </p:txBody>
      </p:sp>
      <p:sp>
        <p:nvSpPr>
          <p:cNvPr id="531" name="Google Shape;531;p24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BF16도 overthinking하지만 비중은 낮았다</a:t>
            </a:r>
            <a:endParaRPr/>
          </a:p>
        </p:txBody>
      </p:sp>
      <p:cxnSp>
        <p:nvCxnSpPr>
          <p:cNvPr id="532" name="Google Shape;532;p24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24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MATH-500에서 총 72개 오류 중 19개, 약 26%</a:t>
            </a:r>
            <a:endParaRPr/>
          </a:p>
        </p:txBody>
      </p:sp>
      <p:graphicFrame>
        <p:nvGraphicFramePr>
          <p:cNvPr id="536" name="Google Shape;536;p24"/>
          <p:cNvGraphicFramePr/>
          <p:nvPr/>
        </p:nvGraphicFramePr>
        <p:xfrm>
          <a:off x="1238250" y="2190750"/>
          <a:ext cx="9715500" cy="3714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37" name="Google Shape;537;p24"/>
          <p:cNvSpPr txBox="1"/>
          <p:nvPr/>
        </p:nvSpPr>
        <p:spPr>
          <a:xfrm>
            <a:off x="4531950" y="5481175"/>
            <a:ext cx="642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logical                               arithmetic                             format/other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5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오류 분석</a:t>
            </a:r>
            <a:endParaRPr/>
          </a:p>
        </p:txBody>
      </p:sp>
      <p:sp>
        <p:nvSpPr>
          <p:cNvPr id="544" name="Google Shape;544;p25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AWQ 3-bit에서는 overthinking이 지배적 오류가 됐다</a:t>
            </a:r>
            <a:endParaRPr/>
          </a:p>
        </p:txBody>
      </p:sp>
      <p:cxnSp>
        <p:nvCxnSpPr>
          <p:cNvPr id="545" name="Google Shape;545;p25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25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547" name="Google Shape;547;p25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19개에서 139개로 7.3배 증가, 전체 오류의 52%</a:t>
            </a:r>
            <a:endParaRPr/>
          </a:p>
        </p:txBody>
      </p:sp>
      <p:pic>
        <p:nvPicPr>
          <p:cNvPr id="549" name="Google Shape;5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2180256"/>
            <a:ext cx="10744200" cy="3745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6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오류 분석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정답을 찾고도 버리는 실제 패턴</a:t>
            </a:r>
            <a:endParaRPr/>
          </a:p>
        </p:txBody>
      </p:sp>
      <p:cxnSp>
        <p:nvCxnSpPr>
          <p:cNvPr id="557" name="Google Shape;557;p26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26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세 모델 모두 255에 도달했지만, 하나만 계속 새 가지를 열었다</a:t>
            </a:r>
            <a:endParaRPr/>
          </a:p>
        </p:txBody>
      </p:sp>
      <p:cxnSp>
        <p:nvCxnSpPr>
          <p:cNvPr id="561" name="Google Shape;561;p26"/>
          <p:cNvCxnSpPr/>
          <p:nvPr/>
        </p:nvCxnSpPr>
        <p:spPr>
          <a:xfrm>
            <a:off x="609600" y="238125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26"/>
          <p:cNvSpPr/>
          <p:nvPr/>
        </p:nvSpPr>
        <p:spPr>
          <a:xfrm>
            <a:off x="609600" y="259080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BF16</a:t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609600" y="337185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876300" y="32766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Answer: 255</a:t>
            </a:r>
            <a:endParaRPr/>
          </a:p>
        </p:txBody>
      </p:sp>
      <p:sp>
        <p:nvSpPr>
          <p:cNvPr id="565" name="Google Shape;565;p26"/>
          <p:cNvSpPr/>
          <p:nvPr/>
        </p:nvSpPr>
        <p:spPr>
          <a:xfrm>
            <a:off x="609600" y="392430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>
            <a:off x="876300" y="38290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약 5.2K tokens</a:t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609600" y="4476750"/>
            <a:ext cx="114300" cy="114300"/>
          </a:xfrm>
          <a:prstGeom prst="ellipse">
            <a:avLst/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876300" y="43815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정상 종료</a:t>
            </a:r>
            <a:endParaRPr/>
          </a:p>
        </p:txBody>
      </p:sp>
      <p:cxnSp>
        <p:nvCxnSpPr>
          <p:cNvPr id="569" name="Google Shape;569;p26"/>
          <p:cNvCxnSpPr/>
          <p:nvPr/>
        </p:nvCxnSpPr>
        <p:spPr>
          <a:xfrm>
            <a:off x="4406900" y="238125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26"/>
          <p:cNvSpPr/>
          <p:nvPr/>
        </p:nvSpPr>
        <p:spPr>
          <a:xfrm>
            <a:off x="4406900" y="259080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AWQ 3-bit</a:t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4406900" y="337185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6"/>
          <p:cNvSpPr/>
          <p:nvPr/>
        </p:nvSpPr>
        <p:spPr>
          <a:xfrm>
            <a:off x="4673600" y="32766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Answer: 255</a:t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4406900" y="392430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4673600" y="38290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Wait… But… Alternatively…</a:t>
            </a:r>
            <a:endParaRPr/>
          </a:p>
        </p:txBody>
      </p:sp>
      <p:sp>
        <p:nvSpPr>
          <p:cNvPr id="575" name="Google Shape;575;p26"/>
          <p:cNvSpPr/>
          <p:nvPr/>
        </p:nvSpPr>
        <p:spPr>
          <a:xfrm>
            <a:off x="4406900" y="447675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4673600" y="43815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약 23.4K, 계속 생성</a:t>
            </a:r>
            <a:endParaRPr/>
          </a:p>
        </p:txBody>
      </p:sp>
      <p:cxnSp>
        <p:nvCxnSpPr>
          <p:cNvPr id="577" name="Google Shape;577;p26"/>
          <p:cNvCxnSpPr/>
          <p:nvPr/>
        </p:nvCxnSpPr>
        <p:spPr>
          <a:xfrm>
            <a:off x="8204200" y="2381250"/>
            <a:ext cx="3378200" cy="9525"/>
          </a:xfrm>
          <a:prstGeom prst="straightConnector1">
            <a:avLst/>
          </a:prstGeom>
          <a:noFill/>
          <a:ln cap="flat" cmpd="sng" w="571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26"/>
          <p:cNvSpPr/>
          <p:nvPr/>
        </p:nvSpPr>
        <p:spPr>
          <a:xfrm>
            <a:off x="8204200" y="2590800"/>
            <a:ext cx="337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+ penalty</a:t>
            </a:r>
            <a:endParaRPr/>
          </a:p>
        </p:txBody>
      </p:sp>
      <p:sp>
        <p:nvSpPr>
          <p:cNvPr id="579" name="Google Shape;579;p26"/>
          <p:cNvSpPr/>
          <p:nvPr/>
        </p:nvSpPr>
        <p:spPr>
          <a:xfrm>
            <a:off x="8204200" y="33718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6"/>
          <p:cNvSpPr/>
          <p:nvPr/>
        </p:nvSpPr>
        <p:spPr>
          <a:xfrm>
            <a:off x="8470900" y="32766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Answer: 255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8204200" y="39243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6"/>
          <p:cNvSpPr/>
          <p:nvPr/>
        </p:nvSpPr>
        <p:spPr>
          <a:xfrm>
            <a:off x="8470900" y="382905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가지치기</a:t>
            </a:r>
            <a:endParaRPr/>
          </a:p>
        </p:txBody>
      </p:sp>
      <p:sp>
        <p:nvSpPr>
          <p:cNvPr id="583" name="Google Shape;583;p26"/>
          <p:cNvSpPr/>
          <p:nvPr/>
        </p:nvSpPr>
        <p:spPr>
          <a:xfrm>
            <a:off x="8204200" y="44767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8470900" y="4381500"/>
            <a:ext cx="311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약 12.9K, 종료</a:t>
            </a:r>
            <a:endParaRPr/>
          </a:p>
        </p:txBody>
      </p:sp>
      <p:sp>
        <p:nvSpPr>
          <p:cNvPr id="585" name="Google Shape;585;p26"/>
          <p:cNvSpPr/>
          <p:nvPr/>
        </p:nvSpPr>
        <p:spPr>
          <a:xfrm>
            <a:off x="3619500" y="527685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중간 정답 255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그렇다면 어디서 분포가 흔들리는가</a:t>
            </a:r>
            <a:endParaRPr/>
          </a:p>
        </p:txBody>
      </p:sp>
      <p:cxnSp>
        <p:nvCxnSpPr>
          <p:cNvPr id="593" name="Google Shape;593;p27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7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BF16과 양자화 모델이 같은 문맥에서 다음 토큰을 다르게 보는 지점을 찾는다</a:t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76300" y="2343150"/>
            <a:ext cx="4476750" cy="1809750"/>
          </a:xfrm>
          <a:prstGeom prst="roundRect">
            <a:avLst>
              <a:gd fmla="val 11579" name="adj"/>
            </a:avLst>
          </a:prstGeom>
          <a:solidFill>
            <a:srgbClr val="E6F0FF"/>
          </a:solidFill>
          <a:ln cap="flat" cmpd="sng" w="1905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1238250" y="2714625"/>
            <a:ext cx="3714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BF16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p(next token)</a:t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5562600" y="2990850"/>
            <a:ext cx="104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6838950" y="2343150"/>
            <a:ext cx="4476750" cy="1809750"/>
          </a:xfrm>
          <a:prstGeom prst="roundRect">
            <a:avLst>
              <a:gd fmla="val 11579" name="adj"/>
            </a:avLst>
          </a:prstGeom>
          <a:solidFill>
            <a:srgbClr val="FDE9E6"/>
          </a:solidFill>
          <a:ln cap="flat" cmpd="sng" w="19050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7200900" y="2714625"/>
            <a:ext cx="3714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AWQ 3-bit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q(next token)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1809750" y="47244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2076450" y="462915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같은 prompt와 같은 generation prefix 사용</a:t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1809750" y="52006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2076450" y="51054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각 위치에서 다음 토큰 분포 비교</a:t>
            </a: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1809750" y="56769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2076450" y="558165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차이가 큰 위치와 선택된 단어를 분석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KL divergence를 직관적으로 이해하기</a:t>
            </a:r>
            <a:endParaRPr/>
          </a:p>
        </p:txBody>
      </p:sp>
      <p:cxnSp>
        <p:nvCxnSpPr>
          <p:cNvPr id="615" name="Google Shape;615;p28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28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617" name="Google Shape;617;p28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618" name="Google Shape;618;p28"/>
          <p:cNvSpPr/>
          <p:nvPr/>
        </p:nvSpPr>
        <p:spPr>
          <a:xfrm>
            <a:off x="609600" y="1409700"/>
            <a:ext cx="115824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두 모델의 ‘다음 단어 확률표’가 얼마나 다른지 재는 거리</a:t>
            </a:r>
            <a:endParaRPr b="0" sz="1950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t/>
            </a:r>
            <a:endParaRPr sz="195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P : BF16 원본 모델의 next-token 확률분포, Q : 양자화된 모델, 특히 AWQ 3-bit의 next-token 확률분포</a:t>
            </a:r>
            <a:endParaRPr sz="1950">
              <a:solidFill>
                <a:srgbClr val="102A43"/>
              </a:solidFill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1066800" y="2600325"/>
            <a:ext cx="10058400" cy="1219200"/>
          </a:xfrm>
          <a:prstGeom prst="roundRect">
            <a:avLst>
              <a:gd fmla="val 15625" name="adj"/>
            </a:avLst>
          </a:prstGeom>
          <a:solidFill>
            <a:srgbClr val="091525"/>
          </a:solidFill>
          <a:ln cap="flat" cmpd="sng" w="9525">
            <a:solidFill>
              <a:srgbClr val="09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1409700" y="2838450"/>
            <a:ext cx="9372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5"/>
              <a:buFont typeface="Arial"/>
              <a:buNone/>
            </a:pPr>
            <a:r>
              <a:rPr b="1" lang="en-US" sz="30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Dₖₗ(p ∥ q) = Σᵥ p(v) log[p(v) / q(v)]</a:t>
            </a:r>
            <a:endParaRPr/>
          </a:p>
        </p:txBody>
      </p:sp>
      <p:sp>
        <p:nvSpPr>
          <p:cNvPr id="621" name="Google Shape;621;p28"/>
          <p:cNvSpPr/>
          <p:nvPr/>
        </p:nvSpPr>
        <p:spPr>
          <a:xfrm>
            <a:off x="1619250" y="42100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1885950" y="41148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02A43"/>
                </a:solidFill>
              </a:rPr>
              <a:t>[0.9. 0.05, 0.05] &lt;-  </a:t>
            </a:r>
            <a:endParaRPr sz="180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02A43"/>
                </a:solidFill>
              </a:rPr>
              <a:t>[0.33,0.33,0.33] &lt;- </a:t>
            </a:r>
            <a:endParaRPr sz="180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작은 KL: BF16과 양자화 모델의 예측이 비슷함</a:t>
            </a:r>
            <a:endParaRPr/>
          </a:p>
        </p:txBody>
      </p:sp>
      <p:sp>
        <p:nvSpPr>
          <p:cNvPr id="623" name="Google Shape;623;p28"/>
          <p:cNvSpPr/>
          <p:nvPr/>
        </p:nvSpPr>
        <p:spPr>
          <a:xfrm>
            <a:off x="1619250" y="47625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1885950" y="466725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큰 KL: 같은 문맥에서도 다음 토큰 선호가 크게 달라짐</a:t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1619250" y="53149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1885950" y="52197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논문은 token position마다 KL을 계산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633" name="Google Shape;633;p29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차이가 큰 토큰과 작은 토큰</a:t>
            </a:r>
            <a:endParaRPr/>
          </a:p>
        </p:txBody>
      </p:sp>
      <p:cxnSp>
        <p:nvCxnSpPr>
          <p:cNvPr id="634" name="Google Shape;634;p29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29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636" name="Google Shape;636;p29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높은 KL에는 망설임·분기 단어, 낮은 KL에는 수학·형식 토큰이 많았다</a:t>
            </a:r>
            <a:endParaRPr b="0" sz="1950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낮은 KL = 양자화해도 원본 모델의 판단이 거의 유지됨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높은 KL = 양자화 때문에 원본 모델의 판단이 크게 흔들림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950">
              <a:solidFill>
                <a:srgbClr val="102A43"/>
              </a:solidFill>
            </a:endParaRPr>
          </a:p>
        </p:txBody>
      </p:sp>
      <p:pic>
        <p:nvPicPr>
          <p:cNvPr id="638" name="Google Shape;6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263" y="2209800"/>
            <a:ext cx="3840674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063" y="2209800"/>
            <a:ext cx="3840674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9"/>
          <p:cNvSpPr/>
          <p:nvPr/>
        </p:nvSpPr>
        <p:spPr>
          <a:xfrm>
            <a:off x="1038225" y="5924550"/>
            <a:ext cx="447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높은 KL · 망설임과 분기</a:t>
            </a:r>
            <a:endParaRPr/>
          </a:p>
        </p:txBody>
      </p:sp>
      <p:sp>
        <p:nvSpPr>
          <p:cNvPr id="641" name="Google Shape;641;p29"/>
          <p:cNvSpPr/>
          <p:nvPr/>
        </p:nvSpPr>
        <p:spPr>
          <a:xfrm>
            <a:off x="6677025" y="5924550"/>
            <a:ext cx="447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낮은 KL · 계산과 형식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Entropy는 모델의 망설임 정도</a:t>
            </a:r>
            <a:endParaRPr/>
          </a:p>
        </p:txBody>
      </p:sp>
      <p:cxnSp>
        <p:nvCxnSpPr>
          <p:cNvPr id="649" name="Google Shape;649;p30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30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한 토큰에 확률이 몰리면 낮고, 여러 후보에 퍼지면 높다</a:t>
            </a:r>
            <a:endParaRPr/>
          </a:p>
        </p:txBody>
      </p:sp>
      <p:cxnSp>
        <p:nvCxnSpPr>
          <p:cNvPr id="653" name="Google Shape;653;p30"/>
          <p:cNvCxnSpPr/>
          <p:nvPr/>
        </p:nvCxnSpPr>
        <p:spPr>
          <a:xfrm>
            <a:off x="609600" y="234315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30"/>
          <p:cNvSpPr/>
          <p:nvPr/>
        </p:nvSpPr>
        <p:spPr>
          <a:xfrm>
            <a:off x="609600" y="25527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낮은 entropy</a:t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609600" y="33337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876300" y="32385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후보 하나가 압도적</a:t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609600" y="39433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876300" y="38481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계산의 다음 숫자·기호</a:t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609600" y="45529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876300" y="44577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작은 perturbation에도 안정적</a:t>
            </a:r>
            <a:endParaRPr/>
          </a:p>
        </p:txBody>
      </p:sp>
      <p:cxnSp>
        <p:nvCxnSpPr>
          <p:cNvPr id="661" name="Google Shape;661;p30"/>
          <p:cNvCxnSpPr/>
          <p:nvPr/>
        </p:nvCxnSpPr>
        <p:spPr>
          <a:xfrm>
            <a:off x="6305550" y="234315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30"/>
          <p:cNvSpPr/>
          <p:nvPr/>
        </p:nvSpPr>
        <p:spPr>
          <a:xfrm>
            <a:off x="6305550" y="25527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높은 entropy</a:t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6305550" y="333375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0"/>
          <p:cNvSpPr/>
          <p:nvPr/>
        </p:nvSpPr>
        <p:spPr>
          <a:xfrm>
            <a:off x="6572250" y="32385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여러 후보가 비슷</a:t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>
            <a:off x="6305550" y="394335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0"/>
          <p:cNvSpPr/>
          <p:nvPr/>
        </p:nvSpPr>
        <p:spPr>
          <a:xfrm>
            <a:off x="6572250" y="38481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분기 여부가 불확실</a:t>
            </a:r>
            <a:endParaRPr/>
          </a:p>
        </p:txBody>
      </p:sp>
      <p:sp>
        <p:nvSpPr>
          <p:cNvPr id="667" name="Google Shape;667;p30"/>
          <p:cNvSpPr/>
          <p:nvPr/>
        </p:nvSpPr>
        <p:spPr>
          <a:xfrm>
            <a:off x="6305550" y="4552950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0"/>
          <p:cNvSpPr/>
          <p:nvPr/>
        </p:nvSpPr>
        <p:spPr>
          <a:xfrm>
            <a:off x="6572250" y="44577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작은 noise가 선택을 바꿀 수 있음</a:t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914400" y="5314950"/>
            <a:ext cx="438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확률이 한 후보에 집중</a:t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6896100" y="5314950"/>
            <a:ext cx="438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확률이 여러 후보에 분산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677" name="Google Shape;677;p31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불확실한 위치일수록 양자화의 영향이 컸다</a:t>
            </a:r>
            <a:endParaRPr/>
          </a:p>
        </p:txBody>
      </p:sp>
      <p:cxnSp>
        <p:nvCxnSpPr>
          <p:cNvPr id="678" name="Google Shape;678;p31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9" name="Google Shape;679;p31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위치별 KL과 BF16 next-token entropy의 Spearman ρ = 0.92</a:t>
            </a:r>
            <a:endParaRPr b="0" sz="1950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p=[라면:0.9, 김밥:0.05, 피자:0.05]  (엔트로피 낮음), p=[라면:0.3, 김밥:0.25, 피자:0.25, 햄버거:0.2]  (엔트로피 높음)</a:t>
            </a:r>
            <a:endParaRPr sz="1950">
              <a:solidFill>
                <a:srgbClr val="102A43"/>
              </a:solidFill>
            </a:endParaRPr>
          </a:p>
        </p:txBody>
      </p:sp>
      <p:pic>
        <p:nvPicPr>
          <p:cNvPr id="682" name="Google Shape;6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165" y="2095500"/>
            <a:ext cx="4349671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689" name="Google Shape;689;p32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높은 entropy 위치에는 분기 단어가 더 가까이 있었다</a:t>
            </a:r>
            <a:endParaRPr/>
          </a:p>
        </p:txBody>
      </p:sp>
      <p:cxnSp>
        <p:nvCxnSpPr>
          <p:cNvPr id="690" name="Google Shape;690;p32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32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692" name="Google Shape;692;p32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overthinking marker가 top-20 후보에 들어올 확률이 2–4배 높았다</a:t>
            </a:r>
            <a:endParaRPr/>
          </a:p>
        </p:txBody>
      </p:sp>
      <p:sp>
        <p:nvSpPr>
          <p:cNvPr id="694" name="Google Shape;694;p32"/>
          <p:cNvSpPr/>
          <p:nvPr/>
        </p:nvSpPr>
        <p:spPr>
          <a:xfrm>
            <a:off x="742950" y="2381250"/>
            <a:ext cx="4095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8400"/>
              <a:buFont typeface="Arial"/>
              <a:buNone/>
            </a:pPr>
            <a:r>
              <a:rPr b="1" lang="en-US" sz="8400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2–4×</a:t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1123950" y="4171950"/>
            <a:ext cx="3333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top-20 후보 등장 빈도</a:t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5619750" y="24765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2"/>
          <p:cNvSpPr/>
          <p:nvPr/>
        </p:nvSpPr>
        <p:spPr>
          <a:xfrm>
            <a:off x="5886450" y="2381250"/>
            <a:ext cx="51625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‘Wait’, ‘But’ 같은 토큰이 선택될 문턱이 낮아짐</a:t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5619750" y="33528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5886450" y="3257550"/>
            <a:ext cx="51625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양자화 noise가 다음 토큰 순위를 뒤집기 쉬움</a:t>
            </a:r>
            <a:endParaRPr/>
          </a:p>
        </p:txBody>
      </p:sp>
      <p:sp>
        <p:nvSpPr>
          <p:cNvPr id="700" name="Google Shape;700;p32"/>
          <p:cNvSpPr/>
          <p:nvPr/>
        </p:nvSpPr>
        <p:spPr>
          <a:xfrm>
            <a:off x="5619750" y="422910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>
            <a:off x="5886450" y="4133850"/>
            <a:ext cx="51625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새 추론 가지가 열리면서 정답 확정이 지연됨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메커니즘</a:t>
            </a:r>
            <a:endParaRPr/>
          </a:p>
        </p:txBody>
      </p:sp>
      <p:sp>
        <p:nvSpPr>
          <p:cNvPr id="708" name="Google Shape;708;p33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논문이 제안한 overthinking 메커니즘</a:t>
            </a:r>
            <a:endParaRPr/>
          </a:p>
        </p:txBody>
      </p:sp>
      <p:cxnSp>
        <p:nvCxnSpPr>
          <p:cNvPr id="709" name="Google Shape;709;p33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33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711" name="Google Shape;711;p33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712" name="Google Shape;712;p33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양자화 오차가 불확실한 지점에서 분기 토큰을 밀어 올린다</a:t>
            </a:r>
            <a:endParaRPr/>
          </a:p>
        </p:txBody>
      </p:sp>
      <p:sp>
        <p:nvSpPr>
          <p:cNvPr id="713" name="Google Shape;713;p33"/>
          <p:cNvSpPr/>
          <p:nvPr/>
        </p:nvSpPr>
        <p:spPr>
          <a:xfrm>
            <a:off x="762000" y="3000375"/>
            <a:ext cx="196596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3"/>
          <p:cNvSpPr/>
          <p:nvPr/>
        </p:nvSpPr>
        <p:spPr>
          <a:xfrm>
            <a:off x="876300" y="3133725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15" name="Google Shape;715;p33"/>
          <p:cNvSpPr/>
          <p:nvPr/>
        </p:nvSpPr>
        <p:spPr>
          <a:xfrm>
            <a:off x="914550" y="3181350"/>
            <a:ext cx="166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양자화 perturbation</a:t>
            </a:r>
            <a:endParaRPr/>
          </a:p>
        </p:txBody>
      </p:sp>
      <p:sp>
        <p:nvSpPr>
          <p:cNvPr id="716" name="Google Shape;716;p33"/>
          <p:cNvSpPr/>
          <p:nvPr/>
        </p:nvSpPr>
        <p:spPr>
          <a:xfrm>
            <a:off x="2937510" y="3000375"/>
            <a:ext cx="196596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3"/>
          <p:cNvSpPr/>
          <p:nvPr/>
        </p:nvSpPr>
        <p:spPr>
          <a:xfrm>
            <a:off x="3051810" y="3133725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18" name="Google Shape;718;p33"/>
          <p:cNvSpPr/>
          <p:nvPr/>
        </p:nvSpPr>
        <p:spPr>
          <a:xfrm>
            <a:off x="3270985" y="3181350"/>
            <a:ext cx="166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t/>
            </a:r>
            <a:endParaRPr b="1" sz="1425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02A43"/>
                </a:solidFill>
              </a:rPr>
              <a:t>hjgh entropy 였는데 양자화에 의해 토큰 선택을 바꿈</a:t>
            </a:r>
            <a:endParaRPr b="1" sz="1425">
              <a:solidFill>
                <a:srgbClr val="102A43"/>
              </a:solidFill>
            </a:endParaRPr>
          </a:p>
        </p:txBody>
      </p:sp>
      <p:sp>
        <p:nvSpPr>
          <p:cNvPr id="719" name="Google Shape;719;p33"/>
          <p:cNvSpPr/>
          <p:nvPr/>
        </p:nvSpPr>
        <p:spPr>
          <a:xfrm>
            <a:off x="5113020" y="3000375"/>
            <a:ext cx="196596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3"/>
          <p:cNvSpPr/>
          <p:nvPr/>
        </p:nvSpPr>
        <p:spPr>
          <a:xfrm>
            <a:off x="5227320" y="3133725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21" name="Google Shape;721;p33"/>
          <p:cNvSpPr/>
          <p:nvPr/>
        </p:nvSpPr>
        <p:spPr>
          <a:xfrm>
            <a:off x="5265495" y="3181350"/>
            <a:ext cx="166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Wait / But 선택</a:t>
            </a:r>
            <a:endParaRPr b="1" sz="1425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02A43"/>
                </a:solidFill>
              </a:rPr>
              <a:t>(망설이는 구간)</a:t>
            </a:r>
            <a:endParaRPr b="1" sz="1425">
              <a:solidFill>
                <a:srgbClr val="102A43"/>
              </a:solidFill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7288530" y="3000375"/>
            <a:ext cx="1965960" cy="1066800"/>
          </a:xfrm>
          <a:prstGeom prst="roundRect">
            <a:avLst>
              <a:gd fmla="val 16071" name="adj"/>
            </a:avLst>
          </a:prstGeom>
          <a:solidFill>
            <a:srgbClr val="FFFFFF"/>
          </a:solidFill>
          <a:ln cap="flat" cmpd="sng" w="1905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3"/>
          <p:cNvSpPr/>
          <p:nvPr/>
        </p:nvSpPr>
        <p:spPr>
          <a:xfrm>
            <a:off x="7402830" y="3133725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24" name="Google Shape;724;p33"/>
          <p:cNvSpPr/>
          <p:nvPr/>
        </p:nvSpPr>
        <p:spPr>
          <a:xfrm>
            <a:off x="7441005" y="3181350"/>
            <a:ext cx="166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새 추론 가지</a:t>
            </a:r>
            <a:endParaRPr/>
          </a:p>
        </p:txBody>
      </p:sp>
      <p:sp>
        <p:nvSpPr>
          <p:cNvPr id="725" name="Google Shape;725;p33"/>
          <p:cNvSpPr/>
          <p:nvPr/>
        </p:nvSpPr>
        <p:spPr>
          <a:xfrm>
            <a:off x="9464040" y="3000375"/>
            <a:ext cx="1965960" cy="1066800"/>
          </a:xfrm>
          <a:prstGeom prst="roundRect">
            <a:avLst>
              <a:gd fmla="val 16071" name="adj"/>
            </a:avLst>
          </a:prstGeom>
          <a:solidFill>
            <a:srgbClr val="E6F7EC"/>
          </a:solidFill>
          <a:ln cap="flat" cmpd="sng" w="190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3"/>
          <p:cNvSpPr/>
          <p:nvPr/>
        </p:nvSpPr>
        <p:spPr>
          <a:xfrm>
            <a:off x="9578340" y="3133725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27" name="Google Shape;727;p33"/>
          <p:cNvSpPr/>
          <p:nvPr/>
        </p:nvSpPr>
        <p:spPr>
          <a:xfrm>
            <a:off x="9616590" y="3286125"/>
            <a:ext cx="1661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88"/>
              <a:buFont typeface="Arial"/>
              <a:buNone/>
            </a:pPr>
            <a:r>
              <a:rPr b="1" lang="en-US" sz="1389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정답을 덮거나 종료 지연</a:t>
            </a:r>
            <a:endParaRPr/>
          </a:p>
        </p:txBody>
      </p:sp>
      <p:cxnSp>
        <p:nvCxnSpPr>
          <p:cNvPr id="728" name="Google Shape;728;p33"/>
          <p:cNvCxnSpPr>
            <a:stCxn id="713" idx="3"/>
            <a:endCxn id="716" idx="1"/>
          </p:cNvCxnSpPr>
          <p:nvPr/>
        </p:nvCxnSpPr>
        <p:spPr>
          <a:xfrm>
            <a:off x="2727960" y="3533775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729" name="Google Shape;729;p33"/>
          <p:cNvCxnSpPr>
            <a:stCxn id="716" idx="3"/>
            <a:endCxn id="719" idx="1"/>
          </p:cNvCxnSpPr>
          <p:nvPr/>
        </p:nvCxnSpPr>
        <p:spPr>
          <a:xfrm>
            <a:off x="4903470" y="3533775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730" name="Google Shape;730;p33"/>
          <p:cNvCxnSpPr>
            <a:stCxn id="719" idx="3"/>
            <a:endCxn id="722" idx="1"/>
          </p:cNvCxnSpPr>
          <p:nvPr/>
        </p:nvCxnSpPr>
        <p:spPr>
          <a:xfrm>
            <a:off x="7078980" y="3533775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731" name="Google Shape;731;p33"/>
          <p:cNvCxnSpPr>
            <a:stCxn id="722" idx="3"/>
            <a:endCxn id="725" idx="1"/>
          </p:cNvCxnSpPr>
          <p:nvPr/>
        </p:nvCxnSpPr>
        <p:spPr>
          <a:xfrm>
            <a:off x="9254490" y="3533775"/>
            <a:ext cx="209700" cy="0"/>
          </a:xfrm>
          <a:prstGeom prst="straightConnector1">
            <a:avLst/>
          </a:prstGeom>
          <a:noFill/>
          <a:ln cap="flat" cmpd="sng" w="19050">
            <a:solidFill>
              <a:srgbClr val="627D98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732" name="Google Shape;732;p33"/>
          <p:cNvSpPr txBox="1"/>
          <p:nvPr/>
        </p:nvSpPr>
        <p:spPr>
          <a:xfrm>
            <a:off x="609600" y="4119975"/>
            <a:ext cx="1134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양자화 perturbation : </a:t>
            </a:r>
            <a:r>
              <a:rPr lang="en-US"/>
              <a:t> [5.02, 4.98, 1.2] </a:t>
            </a:r>
            <a:r>
              <a:rPr lang="en-US"/>
              <a:t>가 원 값인데 양자화에 의해 [4.95, 5.03, 1.18] 로 바뀌면서 교란이 생기는 것을 의미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 entropy vs high entropy : [0.98, 0.01, 0.01]  vs [0.35, 0.34, 0.31]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4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개입</a:t>
            </a:r>
            <a:endParaRPr/>
          </a:p>
        </p:txBody>
      </p:sp>
      <p:sp>
        <p:nvSpPr>
          <p:cNvPr id="739" name="Google Shape;739;p34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해결책: overthinking marker에 logit penalty</a:t>
            </a:r>
            <a:endParaRPr/>
          </a:p>
        </p:txBody>
      </p:sp>
      <p:cxnSp>
        <p:nvCxnSpPr>
          <p:cNvPr id="740" name="Google Shape;740;p34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34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매 decoding step마다 50개 marker의 logit에서 고정값 λ를 뺀다</a:t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1066800" y="2333625"/>
            <a:ext cx="10058400" cy="1219200"/>
          </a:xfrm>
          <a:prstGeom prst="roundRect">
            <a:avLst>
              <a:gd fmla="val 15625" name="adj"/>
            </a:avLst>
          </a:prstGeom>
          <a:solidFill>
            <a:srgbClr val="091525"/>
          </a:solidFill>
          <a:ln cap="flat" cmpd="sng" w="9525">
            <a:solidFill>
              <a:srgbClr val="09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1409700" y="2571750"/>
            <a:ext cx="9372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5"/>
              <a:buFont typeface="Arial"/>
              <a:buNone/>
            </a:pPr>
            <a:r>
              <a:rPr b="1" lang="en-US" sz="30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z′ₜ(v) = zₜ(v) − λ   if v ∈ S</a:t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1619250" y="42100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4"/>
          <p:cNvSpPr/>
          <p:nvPr/>
        </p:nvSpPr>
        <p:spPr>
          <a:xfrm>
            <a:off x="1885950" y="41148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재학습 불필요</a:t>
            </a:r>
            <a:endParaRPr/>
          </a:p>
        </p:txBody>
      </p:sp>
      <p:sp>
        <p:nvSpPr>
          <p:cNvPr id="748" name="Google Shape;748;p34"/>
          <p:cNvSpPr/>
          <p:nvPr/>
        </p:nvSpPr>
        <p:spPr>
          <a:xfrm>
            <a:off x="1619250" y="47625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4"/>
          <p:cNvSpPr/>
          <p:nvPr/>
        </p:nvSpPr>
        <p:spPr>
          <a:xfrm>
            <a:off x="1885950" y="466725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추가 forward pass 불필요</a:t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1619250" y="53149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4"/>
          <p:cNvSpPr/>
          <p:nvPr/>
        </p:nvSpPr>
        <p:spPr>
          <a:xfrm>
            <a:off x="1885950" y="52197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조절 변수는 penalty strength λ 하나</a:t>
            </a:r>
            <a:endParaRPr/>
          </a:p>
        </p:txBody>
      </p:sp>
      <p:sp>
        <p:nvSpPr>
          <p:cNvPr id="752" name="Google Shape;752;p34"/>
          <p:cNvSpPr/>
          <p:nvPr/>
        </p:nvSpPr>
        <p:spPr>
          <a:xfrm>
            <a:off x="1619250" y="59436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4"/>
          <p:cNvSpPr/>
          <p:nvPr/>
        </p:nvSpPr>
        <p:spPr>
          <a:xfrm>
            <a:off x="1885950" y="584835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02A43"/>
                </a:solidFill>
              </a:rPr>
              <a:t>모델을 다시 학습하는 대신, 추론 중 불필요한 재고찰이나 우회 경로를 시작하는 50개 marker token의 logit을 매 step에서 λ\lambda만큼 낮춰 overthinking을 억제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5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개입</a:t>
            </a:r>
            <a:endParaRPr/>
          </a:p>
        </p:txBody>
      </p:sp>
      <p:sp>
        <p:nvSpPr>
          <p:cNvPr id="760" name="Google Shape;760;p35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50개 marker는 ‘생각의 새 가지’를 여는 단어</a:t>
            </a:r>
            <a:endParaRPr/>
          </a:p>
        </p:txBody>
      </p:sp>
      <p:cxnSp>
        <p:nvCxnSpPr>
          <p:cNvPr id="761" name="Google Shape;761;p35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35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763" name="Google Shape;763;p35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764" name="Google Shape;764;p35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Wait · But · Alternatively · perhaps · maybe · reconsider · backtrack · wrong …</a:t>
            </a:r>
            <a:endParaRPr/>
          </a:p>
        </p:txBody>
      </p:sp>
      <p:sp>
        <p:nvSpPr>
          <p:cNvPr id="765" name="Google Shape;765;p35"/>
          <p:cNvSpPr/>
          <p:nvPr/>
        </p:nvSpPr>
        <p:spPr>
          <a:xfrm>
            <a:off x="857250" y="2266950"/>
            <a:ext cx="10477500" cy="1143000"/>
          </a:xfrm>
          <a:prstGeom prst="roundRect">
            <a:avLst>
              <a:gd fmla="val 16667" name="adj"/>
            </a:avLst>
          </a:prstGeom>
          <a:solidFill>
            <a:srgbClr val="091525"/>
          </a:solidFill>
          <a:ln cap="flat" cmpd="sng" w="9525">
            <a:solidFill>
              <a:srgbClr val="091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5"/>
          <p:cNvSpPr/>
          <p:nvPr/>
        </p:nvSpPr>
        <p:spPr>
          <a:xfrm>
            <a:off x="1143000" y="249555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6"/>
              <a:buFont typeface="Arial"/>
              <a:buNone/>
            </a:pPr>
            <a:r>
              <a:rPr b="1" lang="en-US" sz="22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Wait · But · Alternatively · perhaps · maybe · reconsider · backtrack · wrong …</a:t>
            </a:r>
            <a:endParaRPr/>
          </a:p>
        </p:txBody>
      </p:sp>
      <p:sp>
        <p:nvSpPr>
          <p:cNvPr id="767" name="Google Shape;767;p35"/>
          <p:cNvSpPr/>
          <p:nvPr/>
        </p:nvSpPr>
        <p:spPr>
          <a:xfrm>
            <a:off x="1619250" y="41910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5"/>
          <p:cNvSpPr/>
          <p:nvPr/>
        </p:nvSpPr>
        <p:spPr>
          <a:xfrm>
            <a:off x="1885950" y="4095750"/>
            <a:ext cx="8686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high-KL 목록 전체를 그대로 쓰지 않고 의미를 기준으로 선별</a:t>
            </a:r>
            <a:endParaRPr/>
          </a:p>
        </p:txBody>
      </p:sp>
      <p:sp>
        <p:nvSpPr>
          <p:cNvPr id="769" name="Google Shape;769;p35"/>
          <p:cNvSpPr/>
          <p:nvPr/>
        </p:nvSpPr>
        <p:spPr>
          <a:xfrm>
            <a:off x="1619250" y="48006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5"/>
          <p:cNvSpPr/>
          <p:nvPr/>
        </p:nvSpPr>
        <p:spPr>
          <a:xfrm>
            <a:off x="1885950" y="4705350"/>
            <a:ext cx="8686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‘so’처럼 결론에 도움을 줄 수 있는 토큰은 제외</a:t>
            </a:r>
            <a:endParaRPr/>
          </a:p>
        </p:txBody>
      </p:sp>
      <p:sp>
        <p:nvSpPr>
          <p:cNvPr id="771" name="Google Shape;771;p35"/>
          <p:cNvSpPr/>
          <p:nvPr/>
        </p:nvSpPr>
        <p:spPr>
          <a:xfrm>
            <a:off x="1619250" y="541020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5"/>
          <p:cNvSpPr/>
          <p:nvPr/>
        </p:nvSpPr>
        <p:spPr>
          <a:xfrm>
            <a:off x="1885950" y="5314950"/>
            <a:ext cx="8686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영어 추론 모델에 맞춰 사람이 직접 구성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6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개입</a:t>
            </a: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절제 실험: 아무 토큰이나 누르면 같은가</a:t>
            </a:r>
            <a:endParaRPr/>
          </a:p>
        </p:txBody>
      </p:sp>
      <p:cxnSp>
        <p:nvCxnSpPr>
          <p:cNvPr id="780" name="Google Shape;780;p36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36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782" name="Google Shape;782;p36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609600" y="1352550"/>
            <a:ext cx="1180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같은 크기의 네 token set에 동일한 penalty를 적용 (qwen</a:t>
            </a:r>
            <a:r>
              <a:rPr lang="en-US" sz="1950">
                <a:solidFill>
                  <a:srgbClr val="102A43"/>
                </a:solidFill>
              </a:rPr>
              <a:t>-1.5B, 6개 quantization 설정)</a:t>
            </a:r>
            <a:endParaRPr sz="1950">
              <a:solidFill>
                <a:srgbClr val="102A43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102A43"/>
                </a:solidFill>
              </a:rPr>
              <a:t>Low-KL token은 원본과 양자화 모델 모두 비교적 안정적으로 사용하는 토큰들입니다.  -&gt; 건들지 말자</a:t>
            </a:r>
            <a:endParaRPr sz="1950">
              <a:solidFill>
                <a:srgbClr val="102A43"/>
              </a:solidFill>
            </a:endParaRPr>
          </a:p>
        </p:txBody>
      </p:sp>
      <p:pic>
        <p:nvPicPr>
          <p:cNvPr id="784" name="Google Shape;7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77" y="2114550"/>
            <a:ext cx="5238196" cy="381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5" name="Google Shape;785;p36"/>
          <p:cNvCxnSpPr/>
          <p:nvPr/>
        </p:nvCxnSpPr>
        <p:spPr>
          <a:xfrm>
            <a:off x="6858000" y="2381250"/>
            <a:ext cx="4381500" cy="9525"/>
          </a:xfrm>
          <a:prstGeom prst="straightConnector1">
            <a:avLst/>
          </a:prstGeom>
          <a:noFill/>
          <a:ln cap="flat" cmpd="sng" w="571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36"/>
          <p:cNvSpPr/>
          <p:nvPr/>
        </p:nvSpPr>
        <p:spPr>
          <a:xfrm>
            <a:off x="6858000" y="25717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Overthinking markers</a:t>
            </a: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6858000" y="31813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6"/>
          <p:cNvSpPr/>
          <p:nvPr/>
        </p:nvSpPr>
        <p:spPr>
          <a:xfrm>
            <a:off x="7124700" y="3086100"/>
            <a:ext cx="4114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CoT 12–23% 감소</a:t>
            </a:r>
            <a:endParaRPr/>
          </a:p>
        </p:txBody>
      </p:sp>
      <p:sp>
        <p:nvSpPr>
          <p:cNvPr id="789" name="Google Shape;789;p36"/>
          <p:cNvSpPr/>
          <p:nvPr/>
        </p:nvSpPr>
        <p:spPr>
          <a:xfrm>
            <a:off x="6858000" y="36385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7124700" y="3543300"/>
            <a:ext cx="4114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정확도 유지·소폭 개선 (High</a:t>
            </a:r>
            <a:r>
              <a:rPr lang="en-US" sz="1800">
                <a:solidFill>
                  <a:srgbClr val="102A43"/>
                </a:solidFill>
              </a:rPr>
              <a:t> -KL overthinking marker 겹칠 수 있다)</a:t>
            </a:r>
            <a:endParaRPr/>
          </a:p>
        </p:txBody>
      </p:sp>
      <p:cxnSp>
        <p:nvCxnSpPr>
          <p:cNvPr id="791" name="Google Shape;791;p36"/>
          <p:cNvCxnSpPr/>
          <p:nvPr/>
        </p:nvCxnSpPr>
        <p:spPr>
          <a:xfrm>
            <a:off x="6858000" y="4143375"/>
            <a:ext cx="4381500" cy="9525"/>
          </a:xfrm>
          <a:prstGeom prst="straightConnector1">
            <a:avLst/>
          </a:prstGeom>
          <a:noFill/>
          <a:ln cap="flat" cmpd="sng" w="57150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2" name="Google Shape;792;p36"/>
          <p:cNvSpPr/>
          <p:nvPr/>
        </p:nvSpPr>
        <p:spPr>
          <a:xfrm>
            <a:off x="6858000" y="433387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6B5E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F26B5E"/>
                </a:solidFill>
                <a:latin typeface="Arial"/>
                <a:ea typeface="Arial"/>
                <a:cs typeface="Arial"/>
                <a:sym typeface="Arial"/>
              </a:rPr>
              <a:t>Low-KL tokens</a:t>
            </a:r>
            <a:endParaRPr/>
          </a:p>
        </p:txBody>
      </p:sp>
      <p:sp>
        <p:nvSpPr>
          <p:cNvPr id="793" name="Google Shape;793;p36"/>
          <p:cNvSpPr/>
          <p:nvPr/>
        </p:nvSpPr>
        <p:spPr>
          <a:xfrm>
            <a:off x="6858000" y="4943475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6"/>
          <p:cNvSpPr/>
          <p:nvPr/>
        </p:nvSpPr>
        <p:spPr>
          <a:xfrm>
            <a:off x="7124700" y="4848225"/>
            <a:ext cx="4114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CoT 최대 41% 증가</a:t>
            </a:r>
            <a:endParaRPr/>
          </a:p>
        </p:txBody>
      </p:sp>
      <p:sp>
        <p:nvSpPr>
          <p:cNvPr id="795" name="Google Shape;795;p36"/>
          <p:cNvSpPr/>
          <p:nvPr/>
        </p:nvSpPr>
        <p:spPr>
          <a:xfrm>
            <a:off x="6858000" y="5400675"/>
            <a:ext cx="114300" cy="114300"/>
          </a:xfrm>
          <a:prstGeom prst="ellipse">
            <a:avLst/>
          </a:prstGeom>
          <a:solidFill>
            <a:srgbClr val="F26B5E"/>
          </a:solidFill>
          <a:ln cap="flat" cmpd="sng" w="9525">
            <a:solidFill>
              <a:srgbClr val="F2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6"/>
          <p:cNvSpPr/>
          <p:nvPr/>
        </p:nvSpPr>
        <p:spPr>
          <a:xfrm>
            <a:off x="7124700" y="5305425"/>
            <a:ext cx="4114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정확도 최대 9.5%p 하락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7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개입</a:t>
            </a:r>
            <a:endParaRPr/>
          </a:p>
        </p:txBody>
      </p:sp>
      <p:sp>
        <p:nvSpPr>
          <p:cNvPr id="803" name="Google Shape;803;p37"/>
          <p:cNvSpPr/>
          <p:nvPr/>
        </p:nvSpPr>
        <p:spPr>
          <a:xfrm>
            <a:off x="609600" y="2762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효율과 정확도의 Pareto frontier가 개선됐다 </a:t>
            </a:r>
            <a:endParaRPr b="1" sz="3375">
              <a:solidFill>
                <a:srgbClr val="0915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</a:rPr>
              <a:t>COT Length와 accuracy의 파레토 관계</a:t>
            </a:r>
            <a:endParaRPr b="1" sz="3375">
              <a:solidFill>
                <a:srgbClr val="091525"/>
              </a:solidFill>
            </a:endParaRPr>
          </a:p>
        </p:txBody>
      </p:sp>
      <p:cxnSp>
        <p:nvCxnSpPr>
          <p:cNvPr id="804" name="Google Shape;804;p37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5" name="Google Shape;805;p37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806" name="Google Shape;806;p37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609600" y="1404850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overthinking marker penalty만 짧은 CoT와 높은 정확도 쪽에 일관되게 위치</a:t>
            </a:r>
            <a:endParaRPr/>
          </a:p>
        </p:txBody>
      </p:sp>
      <p:pic>
        <p:nvPicPr>
          <p:cNvPr id="808" name="Google Shape;80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804" y="2095500"/>
            <a:ext cx="568639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37"/>
          <p:cNvSpPr/>
          <p:nvPr/>
        </p:nvSpPr>
        <p:spPr>
          <a:xfrm>
            <a:off x="7334250" y="25717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7"/>
          <p:cNvSpPr/>
          <p:nvPr/>
        </p:nvSpPr>
        <p:spPr>
          <a:xfrm>
            <a:off x="7600950" y="2476500"/>
            <a:ext cx="36385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random token penalty는 기준점 근처</a:t>
            </a:r>
            <a:endParaRPr/>
          </a:p>
        </p:txBody>
      </p:sp>
      <p:sp>
        <p:nvSpPr>
          <p:cNvPr id="811" name="Google Shape;811;p37"/>
          <p:cNvSpPr/>
          <p:nvPr/>
        </p:nvSpPr>
        <p:spPr>
          <a:xfrm>
            <a:off x="7334250" y="34861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7"/>
          <p:cNvSpPr/>
          <p:nvPr/>
        </p:nvSpPr>
        <p:spPr>
          <a:xfrm>
            <a:off x="7600950" y="3390900"/>
            <a:ext cx="36385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high-KL 전체를 강하게 누르면 정확도 손실</a:t>
            </a:r>
            <a:endParaRPr/>
          </a:p>
        </p:txBody>
      </p:sp>
      <p:sp>
        <p:nvSpPr>
          <p:cNvPr id="813" name="Google Shape;813;p37"/>
          <p:cNvSpPr/>
          <p:nvPr/>
        </p:nvSpPr>
        <p:spPr>
          <a:xfrm>
            <a:off x="7334250" y="4400550"/>
            <a:ext cx="114300" cy="114300"/>
          </a:xfrm>
          <a:prstGeom prst="ellipse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7"/>
          <p:cNvSpPr/>
          <p:nvPr/>
        </p:nvSpPr>
        <p:spPr>
          <a:xfrm>
            <a:off x="7600950" y="4305300"/>
            <a:ext cx="36385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negative λ로 marker를 boost하면 CoT가 최대 445% 증가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8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개입</a:t>
            </a:r>
            <a:endParaRPr/>
          </a:p>
        </p:txBody>
      </p:sp>
      <p:sp>
        <p:nvSpPr>
          <p:cNvPr id="821" name="Google Shape;821;p38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대표 결과: AWQ 3-bit MATH-500</a:t>
            </a:r>
            <a:endParaRPr/>
          </a:p>
        </p:txBody>
      </p:sp>
      <p:cxnSp>
        <p:nvCxnSpPr>
          <p:cNvPr id="822" name="Google Shape;822;p38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3" name="Google Shape;823;p38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p:sp>
        <p:nvSpPr>
          <p:cNvPr id="824" name="Google Shape;824;p38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825" name="Google Shape;825;p38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정답률은 14.2%p 높아지고 CoT는 약 45% 짧아졌다</a:t>
            </a:r>
            <a:endParaRPr/>
          </a:p>
        </p:txBody>
      </p:sp>
      <p:sp>
        <p:nvSpPr>
          <p:cNvPr id="826" name="Google Shape;826;p38"/>
          <p:cNvSpPr/>
          <p:nvPr/>
        </p:nvSpPr>
        <p:spPr>
          <a:xfrm>
            <a:off x="952500" y="21907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Accuracy (%)</a:t>
            </a:r>
            <a:endParaRPr/>
          </a:p>
        </p:txBody>
      </p:sp>
      <p:graphicFrame>
        <p:nvGraphicFramePr>
          <p:cNvPr id="827" name="Google Shape;827;p38"/>
          <p:cNvGraphicFramePr/>
          <p:nvPr/>
        </p:nvGraphicFramePr>
        <p:xfrm>
          <a:off x="666750" y="2619375"/>
          <a:ext cx="5048250" cy="3143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28" name="Google Shape;828;p38"/>
          <p:cNvSpPr/>
          <p:nvPr/>
        </p:nvSpPr>
        <p:spPr>
          <a:xfrm>
            <a:off x="6667500" y="2190750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CoT length (K tokens)</a:t>
            </a:r>
            <a:endParaRPr/>
          </a:p>
        </p:txBody>
      </p:sp>
      <p:graphicFrame>
        <p:nvGraphicFramePr>
          <p:cNvPr id="829" name="Google Shape;829;p38"/>
          <p:cNvGraphicFramePr/>
          <p:nvPr/>
        </p:nvGraphicFramePr>
        <p:xfrm>
          <a:off x="6477000" y="2619375"/>
          <a:ext cx="5048250" cy="31432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830" name="Google Shape;830;p38"/>
          <p:cNvSpPr txBox="1"/>
          <p:nvPr/>
        </p:nvSpPr>
        <p:spPr>
          <a:xfrm>
            <a:off x="104625" y="3137625"/>
            <a:ext cx="4572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정답률</a:t>
            </a:r>
            <a:endParaRPr/>
          </a:p>
        </p:txBody>
      </p:sp>
      <p:sp>
        <p:nvSpPr>
          <p:cNvPr id="831" name="Google Shape;831;p38"/>
          <p:cNvSpPr txBox="1"/>
          <p:nvPr/>
        </p:nvSpPr>
        <p:spPr>
          <a:xfrm>
            <a:off x="1620000" y="5664100"/>
            <a:ext cx="3904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penalty                 vs                 Penalty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8"/>
          <p:cNvSpPr txBox="1"/>
          <p:nvPr/>
        </p:nvSpPr>
        <p:spPr>
          <a:xfrm>
            <a:off x="7048875" y="5762625"/>
            <a:ext cx="3904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penalty                 vs                 Penalty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9"/>
          <p:cNvSpPr/>
          <p:nvPr/>
        </p:nvSpPr>
        <p:spPr>
          <a:xfrm>
            <a:off x="609600" y="3238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041"/>
              <a:buFont typeface="Arial"/>
              <a:buNone/>
            </a:pPr>
            <a:r>
              <a:rPr b="1" lang="en-US" sz="1042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해석</a:t>
            </a:r>
            <a:endParaRPr/>
          </a:p>
        </p:txBody>
      </p:sp>
      <p:sp>
        <p:nvSpPr>
          <p:cNvPr id="839" name="Google Shape;839;p39"/>
          <p:cNvSpPr/>
          <p:nvPr/>
        </p:nvSpPr>
        <p:spPr>
          <a:xfrm>
            <a:off x="609600" y="590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3375"/>
              <a:buFont typeface="Arial"/>
              <a:buNone/>
            </a:pPr>
            <a:r>
              <a:rPr b="1" lang="en-US" sz="337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어디까지 일반화되었고 무엇이 남았는가</a:t>
            </a:r>
            <a:endParaRPr/>
          </a:p>
        </p:txBody>
      </p:sp>
      <p:cxnSp>
        <p:nvCxnSpPr>
          <p:cNvPr id="840" name="Google Shape;840;p39"/>
          <p:cNvCxnSpPr/>
          <p:nvPr/>
        </p:nvCxnSpPr>
        <p:spPr>
          <a:xfrm>
            <a:off x="609600" y="1257300"/>
            <a:ext cx="10972800" cy="9525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1" name="Google Shape;841;p39"/>
          <p:cNvSpPr/>
          <p:nvPr/>
        </p:nvSpPr>
        <p:spPr>
          <a:xfrm>
            <a:off x="11125200" y="64770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925"/>
              <a:buFont typeface="Arial"/>
              <a:buNone/>
            </a:pPr>
            <a:r>
              <a:rPr b="1" lang="en-US" sz="926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609600" y="6477000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7D98"/>
              </a:buClr>
              <a:buSzPts val="810"/>
              <a:buFont typeface="Arial"/>
              <a:buNone/>
            </a:pPr>
            <a:r>
              <a:rPr b="0" lang="en-US" sz="810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Lotfi, Kirichenko, Li, Liu (2026), arXiv:2606.00206</a:t>
            </a:r>
            <a:endParaRPr/>
          </a:p>
        </p:txBody>
      </p:sp>
      <p:sp>
        <p:nvSpPr>
          <p:cNvPr id="843" name="Google Shape;843;p39"/>
          <p:cNvSpPr/>
          <p:nvPr/>
        </p:nvSpPr>
        <p:spPr>
          <a:xfrm>
            <a:off x="609600" y="1409700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다양한 설정에서 길이는 줄었지만, 해결책의 범위에는 경계가 있다</a:t>
            </a:r>
            <a:endParaRPr/>
          </a:p>
        </p:txBody>
      </p:sp>
      <p:cxnSp>
        <p:nvCxnSpPr>
          <p:cNvPr id="844" name="Google Shape;844;p39"/>
          <p:cNvCxnSpPr/>
          <p:nvPr/>
        </p:nvCxnSpPr>
        <p:spPr>
          <a:xfrm>
            <a:off x="609600" y="238125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5" name="Google Shape;845;p39"/>
          <p:cNvSpPr/>
          <p:nvPr/>
        </p:nvSpPr>
        <p:spPr>
          <a:xfrm>
            <a:off x="609600" y="25908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A559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22A559"/>
                </a:solidFill>
                <a:latin typeface="Arial"/>
                <a:ea typeface="Arial"/>
                <a:cs typeface="Arial"/>
                <a:sym typeface="Arial"/>
              </a:rPr>
              <a:t>확인된 범위</a:t>
            </a:r>
            <a:endParaRPr/>
          </a:p>
        </p:txBody>
      </p:sp>
      <p:sp>
        <p:nvSpPr>
          <p:cNvPr id="846" name="Google Shape;846;p39"/>
          <p:cNvSpPr/>
          <p:nvPr/>
        </p:nvSpPr>
        <p:spPr>
          <a:xfrm>
            <a:off x="609600" y="33718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9"/>
          <p:cNvSpPr/>
          <p:nvPr/>
        </p:nvSpPr>
        <p:spPr>
          <a:xfrm>
            <a:off x="876300" y="32766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DeepSeek-R1-Distill-Qwen-1.5B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DeepSeek-R1-Distill-Qwen-7B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DeepSeek-R1-Distill-Qwen-14B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DeepSeek-R1-Distill-Llama-8B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QwQ-32B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02A43"/>
              </a:solidFill>
            </a:endParaRPr>
          </a:p>
        </p:txBody>
      </p:sp>
      <p:sp>
        <p:nvSpPr>
          <p:cNvPr id="848" name="Google Shape;848;p39"/>
          <p:cNvSpPr/>
          <p:nvPr/>
        </p:nvSpPr>
        <p:spPr>
          <a:xfrm>
            <a:off x="609600" y="39814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9"/>
          <p:cNvSpPr/>
          <p:nvPr/>
        </p:nvSpPr>
        <p:spPr>
          <a:xfrm>
            <a:off x="876300" y="38862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3 PTQ methods</a:t>
            </a:r>
            <a:endParaRPr/>
          </a:p>
        </p:txBody>
      </p:sp>
      <p:sp>
        <p:nvSpPr>
          <p:cNvPr id="850" name="Google Shape;850;p39"/>
          <p:cNvSpPr/>
          <p:nvPr/>
        </p:nvSpPr>
        <p:spPr>
          <a:xfrm>
            <a:off x="609600" y="45910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9"/>
          <p:cNvSpPr/>
          <p:nvPr/>
        </p:nvSpPr>
        <p:spPr>
          <a:xfrm>
            <a:off x="876300" y="44958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5 math/code/science benchmarks</a:t>
            </a:r>
            <a:endParaRPr/>
          </a:p>
        </p:txBody>
      </p:sp>
      <p:sp>
        <p:nvSpPr>
          <p:cNvPr id="852" name="Google Shape;852;p39"/>
          <p:cNvSpPr/>
          <p:nvPr/>
        </p:nvSpPr>
        <p:spPr>
          <a:xfrm>
            <a:off x="609600" y="5200650"/>
            <a:ext cx="114300" cy="114300"/>
          </a:xfrm>
          <a:prstGeom prst="ellipse">
            <a:avLst/>
          </a:prstGeom>
          <a:solidFill>
            <a:srgbClr val="22A559"/>
          </a:solidFill>
          <a:ln cap="flat" cmpd="sng" w="9525">
            <a:solidFill>
              <a:srgbClr val="22A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9"/>
          <p:cNvSpPr/>
          <p:nvPr/>
        </p:nvSpPr>
        <p:spPr>
          <a:xfrm>
            <a:off x="876300" y="51054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BF16도 CoT 5.6–10.0% 감소</a:t>
            </a:r>
            <a:endParaRPr/>
          </a:p>
        </p:txBody>
      </p:sp>
      <p:cxnSp>
        <p:nvCxnSpPr>
          <p:cNvPr id="854" name="Google Shape;854;p39"/>
          <p:cNvCxnSpPr/>
          <p:nvPr/>
        </p:nvCxnSpPr>
        <p:spPr>
          <a:xfrm>
            <a:off x="6305550" y="2381250"/>
            <a:ext cx="5276850" cy="9525"/>
          </a:xfrm>
          <a:prstGeom prst="straightConnector1">
            <a:avLst/>
          </a:prstGeom>
          <a:noFill/>
          <a:ln cap="flat" cmpd="sng" w="57150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39"/>
          <p:cNvSpPr/>
          <p:nvPr/>
        </p:nvSpPr>
        <p:spPr>
          <a:xfrm>
            <a:off x="6305550" y="25908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84B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남은 한계</a:t>
            </a:r>
            <a:endParaRPr/>
          </a:p>
        </p:txBody>
      </p:sp>
      <p:sp>
        <p:nvSpPr>
          <p:cNvPr id="856" name="Google Shape;856;p39"/>
          <p:cNvSpPr/>
          <p:nvPr/>
        </p:nvSpPr>
        <p:spPr>
          <a:xfrm>
            <a:off x="6305550" y="33718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6572250" y="32766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고정 λ만 사용</a:t>
            </a:r>
            <a:endParaRPr/>
          </a:p>
        </p:txBody>
      </p:sp>
      <p:sp>
        <p:nvSpPr>
          <p:cNvPr id="858" name="Google Shape;858;p39"/>
          <p:cNvSpPr/>
          <p:nvPr/>
        </p:nvSpPr>
        <p:spPr>
          <a:xfrm>
            <a:off x="6305550" y="39814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9"/>
          <p:cNvSpPr/>
          <p:nvPr/>
        </p:nvSpPr>
        <p:spPr>
          <a:xfrm>
            <a:off x="6572250" y="38862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영어 marker를 수작업 구성</a:t>
            </a:r>
            <a:endParaRPr/>
          </a:p>
        </p:txBody>
      </p:sp>
      <p:sp>
        <p:nvSpPr>
          <p:cNvPr id="860" name="Google Shape;860;p39"/>
          <p:cNvSpPr/>
          <p:nvPr/>
        </p:nvSpPr>
        <p:spPr>
          <a:xfrm>
            <a:off x="6305550" y="45910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9"/>
          <p:cNvSpPr/>
          <p:nvPr/>
        </p:nvSpPr>
        <p:spPr>
          <a:xfrm>
            <a:off x="6572250" y="44958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다른 planning domain 미검증</a:t>
            </a:r>
            <a:endParaRPr/>
          </a:p>
        </p:txBody>
      </p:sp>
      <p:sp>
        <p:nvSpPr>
          <p:cNvPr id="862" name="Google Shape;862;p39"/>
          <p:cNvSpPr/>
          <p:nvPr/>
        </p:nvSpPr>
        <p:spPr>
          <a:xfrm>
            <a:off x="6305550" y="5200650"/>
            <a:ext cx="114300" cy="114300"/>
          </a:xfrm>
          <a:prstGeom prst="ellipse">
            <a:avLst/>
          </a:prstGeom>
          <a:solidFill>
            <a:srgbClr val="F2B84B"/>
          </a:solidFill>
          <a:ln cap="flat" cmpd="sng" w="9525">
            <a:solidFill>
              <a:srgbClr val="F2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9"/>
          <p:cNvSpPr/>
          <p:nvPr/>
        </p:nvSpPr>
        <p:spPr>
          <a:xfrm>
            <a:off x="6572250" y="5105400"/>
            <a:ext cx="50101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arXiv preprint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525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0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5C7B0"/>
          </a:solidFill>
          <a:ln cap="flat" cmpd="sng" w="9525">
            <a:solidFill>
              <a:srgbClr val="45C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0"/>
          <p:cNvSpPr/>
          <p:nvPr/>
        </p:nvSpPr>
        <p:spPr>
          <a:xfrm>
            <a:off x="666750" y="476250"/>
            <a:ext cx="1905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5C7B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45C7B0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/>
          </a:p>
        </p:txBody>
      </p:sp>
      <p:sp>
        <p:nvSpPr>
          <p:cNvPr id="871" name="Google Shape;871;p40"/>
          <p:cNvSpPr/>
          <p:nvPr/>
        </p:nvSpPr>
        <p:spPr>
          <a:xfrm>
            <a:off x="666750" y="838200"/>
            <a:ext cx="10858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5"/>
              <a:buFont typeface="Arial"/>
              <a:buNone/>
            </a:pPr>
            <a:r>
              <a:rPr b="1" lang="en-US" sz="36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 장으로 정리</a:t>
            </a:r>
            <a:endParaRPr/>
          </a:p>
        </p:txBody>
      </p:sp>
      <p:sp>
        <p:nvSpPr>
          <p:cNvPr id="872" name="Google Shape;872;p40"/>
          <p:cNvSpPr/>
          <p:nvPr/>
        </p:nvSpPr>
        <p:spPr>
          <a:xfrm>
            <a:off x="666750" y="16954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8E5"/>
              </a:buClr>
              <a:buSzPts val="2025"/>
              <a:buFont typeface="Arial"/>
              <a:buNone/>
            </a:pPr>
            <a:r>
              <a:rPr b="0" lang="en-US" sz="2025">
                <a:solidFill>
                  <a:srgbClr val="C9D8E5"/>
                </a:solidFill>
                <a:latin typeface="Arial"/>
                <a:ea typeface="Arial"/>
                <a:cs typeface="Arial"/>
                <a:sym typeface="Arial"/>
              </a:rPr>
              <a:t>양자화는 모델의 ‘계산 능력’뿐 아니라 ‘언제 멈출지’도 바꾼다</a:t>
            </a:r>
            <a:endParaRPr/>
          </a:p>
        </p:txBody>
      </p:sp>
      <p:sp>
        <p:nvSpPr>
          <p:cNvPr id="873" name="Google Shape;873;p40"/>
          <p:cNvSpPr/>
          <p:nvPr/>
        </p:nvSpPr>
        <p:spPr>
          <a:xfrm>
            <a:off x="762000" y="2647950"/>
            <a:ext cx="476250" cy="476250"/>
          </a:xfrm>
          <a:prstGeom prst="rect">
            <a:avLst/>
          </a:prstGeom>
          <a:solidFill>
            <a:srgbClr val="45C7B0"/>
          </a:solidFill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74" name="Google Shape;874;p40"/>
          <p:cNvSpPr/>
          <p:nvPr/>
        </p:nvSpPr>
        <p:spPr>
          <a:xfrm>
            <a:off x="1466850" y="26289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강한 PTQ는 정확도를 낮추면서 CoT를 늘렸다</a:t>
            </a:r>
            <a:endParaRPr/>
          </a:p>
        </p:txBody>
      </p:sp>
      <p:sp>
        <p:nvSpPr>
          <p:cNvPr id="875" name="Google Shape;875;p40"/>
          <p:cNvSpPr/>
          <p:nvPr/>
        </p:nvSpPr>
        <p:spPr>
          <a:xfrm>
            <a:off x="762000" y="3505200"/>
            <a:ext cx="476250" cy="476250"/>
          </a:xfrm>
          <a:prstGeom prst="rect">
            <a:avLst/>
          </a:prstGeom>
          <a:solidFill>
            <a:srgbClr val="45C7B0"/>
          </a:solidFill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>
            <a:off x="1466850" y="34861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주요 실패는 정답을 찾고도 버리는 overthinking이었다</a:t>
            </a:r>
            <a:endParaRPr/>
          </a:p>
        </p:txBody>
      </p:sp>
      <p:sp>
        <p:nvSpPr>
          <p:cNvPr id="877" name="Google Shape;877;p40"/>
          <p:cNvSpPr/>
          <p:nvPr/>
        </p:nvSpPr>
        <p:spPr>
          <a:xfrm>
            <a:off x="762000" y="4362450"/>
            <a:ext cx="476250" cy="476250"/>
          </a:xfrm>
          <a:prstGeom prst="rect">
            <a:avLst/>
          </a:prstGeom>
          <a:solidFill>
            <a:srgbClr val="45C7B0"/>
          </a:solidFill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91525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915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78" name="Google Shape;878;p40"/>
          <p:cNvSpPr/>
          <p:nvPr/>
        </p:nvSpPr>
        <p:spPr>
          <a:xfrm>
            <a:off x="1466850" y="43434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불확실한 위치의 분기 token을 약하게 누르자 비용과 오류가 함께 줄었다</a:t>
            </a:r>
            <a:endParaRPr/>
          </a:p>
        </p:txBody>
      </p:sp>
      <p:cxnSp>
        <p:nvCxnSpPr>
          <p:cNvPr id="879" name="Google Shape;879;p40"/>
          <p:cNvCxnSpPr/>
          <p:nvPr/>
        </p:nvCxnSpPr>
        <p:spPr>
          <a:xfrm>
            <a:off x="666750" y="5295900"/>
            <a:ext cx="10858500" cy="9525"/>
          </a:xfrm>
          <a:prstGeom prst="straightConnector1">
            <a:avLst/>
          </a:prstGeom>
          <a:noFill/>
          <a:ln cap="flat" cmpd="sng" w="9525">
            <a:solidFill>
              <a:srgbClr val="3650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0" name="Google Shape;880;p40"/>
          <p:cNvSpPr/>
          <p:nvPr/>
        </p:nvSpPr>
        <p:spPr>
          <a:xfrm>
            <a:off x="666750" y="556260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rm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84B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2B84B"/>
                </a:solidFill>
                <a:latin typeface="Arial"/>
                <a:ea typeface="Arial"/>
                <a:cs typeface="Arial"/>
                <a:sym typeface="Arial"/>
              </a:rPr>
              <a:t>토론  이 방법이 창의적 글쓰기에도 안전할까?   /   marker 대신 entropy 기반 동적 종료가 더 나을까?</a:t>
            </a:r>
            <a:endParaRPr/>
          </a:p>
        </p:txBody>
      </p:sp>
      <p:sp>
        <p:nvSpPr>
          <p:cNvPr id="881" name="Google Shape;881;p40"/>
          <p:cNvSpPr/>
          <p:nvPr/>
        </p:nvSpPr>
        <p:spPr>
          <a:xfrm>
            <a:off x="10668000" y="6400800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rm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A8BC"/>
              </a:buClr>
              <a:buSzPts val="925"/>
              <a:buFont typeface="Arial"/>
              <a:buNone/>
            </a:pPr>
            <a:r>
              <a:rPr b="0" lang="en-US" sz="926">
                <a:solidFill>
                  <a:srgbClr val="8FA8BC"/>
                </a:solidFill>
                <a:latin typeface="Arial"/>
                <a:ea typeface="Arial"/>
                <a:cs typeface="Arial"/>
                <a:sym typeface="Arial"/>
              </a:rPr>
              <a:t>40 / 40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